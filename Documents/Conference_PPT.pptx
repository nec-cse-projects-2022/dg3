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9" r:id="rId4"/>
    <p:sldId id="258" r:id="rId5"/>
    <p:sldId id="262" r:id="rId6"/>
    <p:sldId id="261"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2" autoAdjust="0"/>
    <p:restoredTop sz="94660"/>
  </p:normalViewPr>
  <p:slideViewPr>
    <p:cSldViewPr snapToGrid="0">
      <p:cViewPr varScale="1">
        <p:scale>
          <a:sx n="87" d="100"/>
          <a:sy n="87" d="100"/>
        </p:scale>
        <p:origin x="48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549F42-7B0C-4405-8FA7-5F4FD553E818}"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E4ACC3-BC30-406F-BB0A-B9E9800F01D5}" type="slidenum">
              <a:rPr lang="en-US" smtClean="0"/>
              <a:t>‹#›</a:t>
            </a:fld>
            <a:endParaRPr lang="en-US"/>
          </a:p>
        </p:txBody>
      </p:sp>
    </p:spTree>
    <p:extLst>
      <p:ext uri="{BB962C8B-B14F-4D97-AF65-F5344CB8AC3E}">
        <p14:creationId xmlns:p14="http://schemas.microsoft.com/office/powerpoint/2010/main" val="1383743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8F11EB1-FA74-4C70-BCDA-9FD00353DAC0}" type="datetime1">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01249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3B87D8-516A-4C2C-A678-236CBE3E8417}" type="datetime1">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40206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316F76B-B355-4D6E-94B4-939354CF9792}" type="datetime1">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965547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6D01A85-9C73-4843-9880-3CDC532762F1}" type="datetime1">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75149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FBB4936-628E-4825-B01B-87EFD3DE67EA}" type="datetime1">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2943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0D820DD-F9A5-470A-AF92-50A7A235E3E5}" type="datetime1">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55808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9A34D5-7445-4826-B765-792108DAA269}" type="datetime1">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45406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BC1E84-A50E-4451-83DB-466036656BE6}" type="datetime1">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0053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96E557-3910-4BCF-ADFF-D31F970BC5D3}" type="datetime1">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585876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0BAAF5-4794-4F7D-8566-97A83BCCC0A2}" type="datetime1">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82560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226813-D857-4539-9ACC-5BCB32FC64BE}" type="datetime1">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435286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162D0C-7791-4876-BCDD-0DADFF371D0E}" type="datetime1">
              <a:rPr lang="en-US" smtClean="0"/>
              <a:t>2/12/2026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3597300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0737" y="1909641"/>
            <a:ext cx="11116090" cy="1305151"/>
          </a:xfrm>
        </p:spPr>
        <p:txBody>
          <a:bodyPr>
            <a:normAutofit/>
          </a:bodyPr>
          <a:lstStyle/>
          <a:p>
            <a:r>
              <a:rPr lang="en-US" sz="3600" dirty="0" smtClean="0">
                <a:latin typeface="Bahnschrift Condensed" panose="020B0502040204020203" pitchFamily="34" charset="0"/>
              </a:rPr>
              <a:t>2025 </a:t>
            </a:r>
            <a:r>
              <a:rPr lang="en-US" sz="3600" dirty="0">
                <a:latin typeface="Bahnschrift Condensed" panose="020B0502040204020203" pitchFamily="34" charset="0"/>
              </a:rPr>
              <a:t>IEEE International Conference on </a:t>
            </a:r>
            <a:r>
              <a:rPr lang="en-US" sz="3600" dirty="0" smtClean="0">
                <a:latin typeface="Bahnschrift Condensed" panose="020B0502040204020203" pitchFamily="34" charset="0"/>
              </a:rPr>
              <a:t>Women </a:t>
            </a:r>
            <a:r>
              <a:rPr lang="en-US" sz="3600" dirty="0">
                <a:latin typeface="Bahnschrift Condensed" panose="020B0502040204020203" pitchFamily="34" charset="0"/>
              </a:rPr>
              <a:t>in Computing (INCOWOCO)</a:t>
            </a:r>
            <a:br>
              <a:rPr lang="en-US" sz="3600" dirty="0">
                <a:latin typeface="Bahnschrift Condensed" panose="020B0502040204020203" pitchFamily="34" charset="0"/>
              </a:rPr>
            </a:br>
            <a:r>
              <a:rPr lang="en-US" sz="3600" dirty="0">
                <a:latin typeface="Bahnschrift Condensed" panose="020B0502040204020203" pitchFamily="34" charset="0"/>
              </a:rPr>
              <a:t>(</a:t>
            </a:r>
            <a:r>
              <a:rPr lang="en-US" sz="3600" dirty="0" smtClean="0">
                <a:latin typeface="Bahnschrift Condensed" panose="020B0502040204020203" pitchFamily="34" charset="0"/>
              </a:rPr>
              <a:t>14-15</a:t>
            </a:r>
            <a:r>
              <a:rPr lang="en-US" sz="3600" dirty="0">
                <a:latin typeface="Bahnschrift Condensed" panose="020B0502040204020203" pitchFamily="34" charset="0"/>
              </a:rPr>
              <a:t>, November </a:t>
            </a:r>
            <a:r>
              <a:rPr lang="en-US" sz="3600" dirty="0" smtClean="0">
                <a:latin typeface="Bahnschrift Condensed" panose="020B0502040204020203" pitchFamily="34" charset="0"/>
              </a:rPr>
              <a:t>2025</a:t>
            </a:r>
            <a:r>
              <a:rPr lang="en-US" sz="3600" dirty="0" smtClean="0"/>
              <a:t>)</a:t>
            </a:r>
            <a:endParaRPr lang="en-US" sz="3600" dirty="0"/>
          </a:p>
        </p:txBody>
      </p:sp>
      <p:sp>
        <p:nvSpPr>
          <p:cNvPr id="3" name="Subtitle 2"/>
          <p:cNvSpPr>
            <a:spLocks noGrp="1"/>
          </p:cNvSpPr>
          <p:nvPr>
            <p:ph type="subTitle" idx="1"/>
          </p:nvPr>
        </p:nvSpPr>
        <p:spPr>
          <a:xfrm>
            <a:off x="653144" y="3929743"/>
            <a:ext cx="10983683" cy="2449286"/>
          </a:xfrm>
        </p:spPr>
        <p:txBody>
          <a:bodyPr>
            <a:normAutofit fontScale="92500" lnSpcReduction="10000"/>
          </a:bodyPr>
          <a:lstStyle/>
          <a:p>
            <a:r>
              <a:rPr lang="en-US" dirty="0" smtClean="0">
                <a:latin typeface="Bahnschrift Condensed" panose="020B0502040204020203" pitchFamily="34" charset="0"/>
                <a:ea typeface="+mj-ea"/>
                <a:cs typeface="+mj-cs"/>
              </a:rPr>
              <a:t>Paper ID:148</a:t>
            </a:r>
          </a:p>
          <a:p>
            <a:r>
              <a:rPr lang="en-US" dirty="0" smtClean="0">
                <a:latin typeface="Bahnschrift Condensed" panose="020B0502040204020203" pitchFamily="34" charset="0"/>
                <a:ea typeface="+mj-ea"/>
                <a:cs typeface="+mj-cs"/>
              </a:rPr>
              <a:t>Paper </a:t>
            </a:r>
            <a:r>
              <a:rPr lang="en-US" dirty="0">
                <a:latin typeface="Bahnschrift Condensed" panose="020B0502040204020203" pitchFamily="34" charset="0"/>
                <a:ea typeface="+mj-ea"/>
                <a:cs typeface="+mj-cs"/>
              </a:rPr>
              <a:t>Title: </a:t>
            </a:r>
            <a:r>
              <a:rPr lang="en-US" dirty="0" smtClean="0">
                <a:latin typeface="Bahnschrift Condensed" panose="020B0502040204020203" pitchFamily="34" charset="0"/>
                <a:ea typeface="+mj-ea"/>
                <a:cs typeface="+mj-cs"/>
              </a:rPr>
              <a:t>Leveraging Operational and Environmental Data for Train Delay Prediction via Deep Learning Models </a:t>
            </a:r>
            <a:endParaRPr lang="en-US" dirty="0">
              <a:latin typeface="Bahnschrift Condensed" panose="020B0502040204020203" pitchFamily="34" charset="0"/>
              <a:ea typeface="+mj-ea"/>
              <a:cs typeface="+mj-cs"/>
            </a:endParaRPr>
          </a:p>
          <a:p>
            <a:endParaRPr lang="en-US" dirty="0">
              <a:latin typeface="Bahnschrift Condensed" panose="020B0502040204020203" pitchFamily="34" charset="0"/>
              <a:ea typeface="+mj-ea"/>
              <a:cs typeface="+mj-cs"/>
            </a:endParaRPr>
          </a:p>
          <a:p>
            <a:endParaRPr lang="en-US" dirty="0">
              <a:latin typeface="Bahnschrift Condensed" panose="020B0502040204020203" pitchFamily="34" charset="0"/>
              <a:ea typeface="+mj-ea"/>
              <a:cs typeface="+mj-cs"/>
            </a:endParaRPr>
          </a:p>
          <a:p>
            <a:pPr algn="r"/>
            <a:r>
              <a:rPr lang="en-US" dirty="0" smtClean="0">
                <a:latin typeface="Bahnschrift Condensed" panose="020B0502040204020203" pitchFamily="34" charset="0"/>
                <a:ea typeface="+mj-ea"/>
                <a:cs typeface="+mj-cs"/>
              </a:rPr>
              <a:t>Author(s): </a:t>
            </a:r>
            <a:r>
              <a:rPr lang="en-US" sz="2200" dirty="0" smtClean="0">
                <a:latin typeface="Bahnschrift Condensed" panose="020B0502040204020203" pitchFamily="34" charset="0"/>
                <a:ea typeface="+mj-ea"/>
                <a:cs typeface="+mj-cs"/>
              </a:rPr>
              <a:t>Rama Krishna </a:t>
            </a:r>
            <a:r>
              <a:rPr lang="en-US" sz="2200" dirty="0" err="1" smtClean="0">
                <a:latin typeface="Bahnschrift Condensed" panose="020B0502040204020203" pitchFamily="34" charset="0"/>
                <a:ea typeface="+mj-ea"/>
                <a:cs typeface="+mj-cs"/>
              </a:rPr>
              <a:t>Eluri,Kotha</a:t>
            </a:r>
            <a:r>
              <a:rPr lang="en-US" sz="2200" dirty="0" smtClean="0">
                <a:latin typeface="Bahnschrift Condensed" panose="020B0502040204020203" pitchFamily="34" charset="0"/>
                <a:ea typeface="+mj-ea"/>
                <a:cs typeface="+mj-cs"/>
              </a:rPr>
              <a:t> </a:t>
            </a:r>
            <a:r>
              <a:rPr lang="en-US" sz="2200" dirty="0" err="1" smtClean="0">
                <a:latin typeface="Bahnschrift Condensed" panose="020B0502040204020203" pitchFamily="34" charset="0"/>
                <a:ea typeface="+mj-ea"/>
                <a:cs typeface="+mj-cs"/>
              </a:rPr>
              <a:t>Lahari,Appala</a:t>
            </a:r>
            <a:r>
              <a:rPr lang="en-US" sz="2200" dirty="0" smtClean="0">
                <a:latin typeface="Bahnschrift Condensed" panose="020B0502040204020203" pitchFamily="34" charset="0"/>
                <a:ea typeface="+mj-ea"/>
                <a:cs typeface="+mj-cs"/>
              </a:rPr>
              <a:t> </a:t>
            </a:r>
            <a:r>
              <a:rPr lang="en-US" sz="2200" dirty="0" err="1" smtClean="0">
                <a:latin typeface="Bahnschrift Condensed" panose="020B0502040204020203" pitchFamily="34" charset="0"/>
                <a:ea typeface="+mj-ea"/>
                <a:cs typeface="+mj-cs"/>
              </a:rPr>
              <a:t>Chandana</a:t>
            </a:r>
            <a:r>
              <a:rPr lang="en-US" sz="2200" dirty="0" smtClean="0">
                <a:latin typeface="Bahnschrift Condensed" panose="020B0502040204020203" pitchFamily="34" charset="0"/>
                <a:ea typeface="+mj-ea"/>
                <a:cs typeface="+mj-cs"/>
              </a:rPr>
              <a:t> </a:t>
            </a:r>
            <a:r>
              <a:rPr lang="en-US" sz="2200" dirty="0" err="1" smtClean="0">
                <a:latin typeface="Bahnschrift Condensed" panose="020B0502040204020203" pitchFamily="34" charset="0"/>
                <a:ea typeface="+mj-ea"/>
                <a:cs typeface="+mj-cs"/>
              </a:rPr>
              <a:t>Priya</a:t>
            </a:r>
            <a:r>
              <a:rPr lang="en-US" sz="2200" dirty="0" smtClean="0">
                <a:latin typeface="Bahnschrift Condensed" panose="020B0502040204020203" pitchFamily="34" charset="0"/>
                <a:ea typeface="+mj-ea"/>
                <a:cs typeface="+mj-cs"/>
              </a:rPr>
              <a:t>,</a:t>
            </a:r>
          </a:p>
          <a:p>
            <a:pPr algn="r"/>
            <a:r>
              <a:rPr lang="en-US" sz="2200" dirty="0" err="1" smtClean="0">
                <a:latin typeface="Bahnschrift Condensed" panose="020B0502040204020203" pitchFamily="34" charset="0"/>
                <a:ea typeface="+mj-ea"/>
                <a:cs typeface="+mj-cs"/>
              </a:rPr>
              <a:t>Yarroju</a:t>
            </a:r>
            <a:r>
              <a:rPr lang="en-US" sz="2200" dirty="0" smtClean="0">
                <a:latin typeface="Bahnschrift Condensed" panose="020B0502040204020203" pitchFamily="34" charset="0"/>
                <a:ea typeface="+mj-ea"/>
                <a:cs typeface="+mj-cs"/>
              </a:rPr>
              <a:t> </a:t>
            </a:r>
            <a:r>
              <a:rPr lang="en-US" sz="2200" dirty="0" err="1" smtClean="0">
                <a:latin typeface="Bahnschrift Condensed" panose="020B0502040204020203" pitchFamily="34" charset="0"/>
                <a:ea typeface="+mj-ea"/>
                <a:cs typeface="+mj-cs"/>
              </a:rPr>
              <a:t>Rekha</a:t>
            </a:r>
            <a:r>
              <a:rPr lang="en-US" sz="2200" dirty="0" smtClean="0">
                <a:latin typeface="Bahnschrift Condensed" panose="020B0502040204020203" pitchFamily="34" charset="0"/>
                <a:ea typeface="+mj-ea"/>
                <a:cs typeface="+mj-cs"/>
              </a:rPr>
              <a:t> </a:t>
            </a:r>
            <a:r>
              <a:rPr lang="en-US" sz="2200" dirty="0" err="1" smtClean="0">
                <a:latin typeface="Bahnschrift Condensed" panose="020B0502040204020203" pitchFamily="34" charset="0"/>
                <a:ea typeface="+mj-ea"/>
                <a:cs typeface="+mj-cs"/>
              </a:rPr>
              <a:t>Sri,Dharmapuri</a:t>
            </a:r>
            <a:r>
              <a:rPr lang="en-US" sz="2200" dirty="0" smtClean="0">
                <a:latin typeface="Bahnschrift Condensed" panose="020B0502040204020203" pitchFamily="34" charset="0"/>
                <a:ea typeface="+mj-ea"/>
                <a:cs typeface="+mj-cs"/>
              </a:rPr>
              <a:t> </a:t>
            </a:r>
            <a:r>
              <a:rPr lang="en-US" sz="2200" dirty="0" err="1" smtClean="0">
                <a:latin typeface="Bahnschrift Condensed" panose="020B0502040204020203" pitchFamily="34" charset="0"/>
                <a:ea typeface="+mj-ea"/>
                <a:cs typeface="+mj-cs"/>
              </a:rPr>
              <a:t>Siri,Kandukuri</a:t>
            </a:r>
            <a:r>
              <a:rPr lang="en-US" sz="2200" dirty="0" smtClean="0">
                <a:latin typeface="Bahnschrift Condensed" panose="020B0502040204020203" pitchFamily="34" charset="0"/>
                <a:ea typeface="+mj-ea"/>
                <a:cs typeface="+mj-cs"/>
              </a:rPr>
              <a:t> </a:t>
            </a:r>
            <a:r>
              <a:rPr lang="en-US" sz="2200" dirty="0" err="1" smtClean="0">
                <a:latin typeface="Bahnschrift Condensed" panose="020B0502040204020203" pitchFamily="34" charset="0"/>
                <a:ea typeface="+mj-ea"/>
                <a:cs typeface="+mj-cs"/>
              </a:rPr>
              <a:t>Swanalatha</a:t>
            </a:r>
            <a:endParaRPr lang="en-US" sz="2200" dirty="0">
              <a:latin typeface="Bahnschrift Condensed" panose="020B0502040204020203" pitchFamily="34" charset="0"/>
              <a:ea typeface="+mj-ea"/>
              <a:cs typeface="+mj-cs"/>
            </a:endParaRPr>
          </a:p>
        </p:txBody>
      </p:sp>
      <p:grpSp>
        <p:nvGrpSpPr>
          <p:cNvPr id="6" name="Group 5"/>
          <p:cNvGrpSpPr/>
          <p:nvPr/>
        </p:nvGrpSpPr>
        <p:grpSpPr>
          <a:xfrm>
            <a:off x="0" y="-118872"/>
            <a:ext cx="12192000" cy="1700784"/>
            <a:chOff x="0" y="0"/>
            <a:chExt cx="24384000" cy="3156966"/>
          </a:xfrm>
        </p:grpSpPr>
        <p:sp>
          <p:nvSpPr>
            <p:cNvPr id="7" name="Freeform 6"/>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2"/>
              <a:stretch>
                <a:fillRect t="-5232" b="-5232"/>
              </a:stretch>
            </a:blipFill>
          </p:spPr>
          <p:txBody>
            <a:bodyPr/>
            <a:lstStyle/>
            <a:p>
              <a:endParaRPr lang="en-IN"/>
            </a:p>
          </p:txBody>
        </p:sp>
      </p:gr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7540"/>
            <a:ext cx="10515600" cy="1325563"/>
          </a:xfrm>
        </p:spPr>
        <p:txBody>
          <a:bodyPr>
            <a:normAutofit fontScale="90000"/>
          </a:bodyPr>
          <a:lstStyle/>
          <a:p>
            <a:pPr>
              <a:spcBef>
                <a:spcPts val="1000"/>
              </a:spcBef>
            </a:pPr>
            <a:r>
              <a:rPr lang="en-US" sz="4000" dirty="0" smtClean="0">
                <a:latin typeface="Bahnschrift Condensed" panose="020B0502040204020203" pitchFamily="34" charset="0"/>
              </a:rPr>
              <a:t/>
            </a:r>
            <a:br>
              <a:rPr lang="en-US" sz="4000" dirty="0" smtClean="0">
                <a:latin typeface="Bahnschrift Condensed" panose="020B0502040204020203" pitchFamily="34" charset="0"/>
              </a:rPr>
            </a:br>
            <a:r>
              <a:rPr lang="en-US" sz="4000" dirty="0" smtClean="0">
                <a:latin typeface="Bahnschrift Condensed" panose="020B0502040204020203" pitchFamily="34" charset="0"/>
              </a:rPr>
              <a:t/>
            </a:r>
            <a:br>
              <a:rPr lang="en-US" sz="4000" dirty="0" smtClean="0">
                <a:latin typeface="Bahnschrift Condensed" panose="020B0502040204020203" pitchFamily="34" charset="0"/>
              </a:rPr>
            </a:br>
            <a:r>
              <a:rPr lang="en-US" sz="4000" dirty="0">
                <a:latin typeface="Bahnschrift Condensed" panose="020B0502040204020203" pitchFamily="34" charset="0"/>
              </a:rPr>
              <a:t/>
            </a:r>
            <a:br>
              <a:rPr lang="en-US" sz="4000" dirty="0">
                <a:latin typeface="Bahnschrift Condensed" panose="020B0502040204020203" pitchFamily="34" charset="0"/>
              </a:rPr>
            </a:br>
            <a:r>
              <a:rPr lang="en-US" sz="4000" dirty="0" smtClean="0">
                <a:latin typeface="Bahnschrift Condensed" panose="020B0502040204020203" pitchFamily="34" charset="0"/>
              </a:rPr>
              <a:t>Contents:</a:t>
            </a:r>
            <a:endParaRPr lang="en-US" sz="4000" dirty="0">
              <a:latin typeface="Bahnschrift Condensed" panose="020B0502040204020203" pitchFamily="34" charset="0"/>
            </a:endParaRPr>
          </a:p>
        </p:txBody>
      </p:sp>
      <p:sp>
        <p:nvSpPr>
          <p:cNvPr id="3" name="Content Placeholder 2"/>
          <p:cNvSpPr>
            <a:spLocks noGrp="1"/>
          </p:cNvSpPr>
          <p:nvPr>
            <p:ph idx="1"/>
          </p:nvPr>
        </p:nvSpPr>
        <p:spPr>
          <a:xfrm>
            <a:off x="838200" y="2136530"/>
            <a:ext cx="10515600" cy="4097215"/>
          </a:xfrm>
        </p:spPr>
        <p:txBody>
          <a:bodyPr>
            <a:normAutofit/>
          </a:bodyPr>
          <a:lstStyle/>
          <a:p>
            <a:r>
              <a:rPr lang="en-US" sz="2400" dirty="0" smtClean="0">
                <a:latin typeface="Bahnschrift Condensed" panose="020B0502040204020203" pitchFamily="34" charset="0"/>
                <a:ea typeface="+mj-ea"/>
                <a:cs typeface="+mj-cs"/>
              </a:rPr>
              <a:t>Abstract</a:t>
            </a:r>
          </a:p>
          <a:p>
            <a:r>
              <a:rPr lang="en-US" sz="2400" dirty="0" smtClean="0">
                <a:latin typeface="Bahnschrift Condensed" panose="020B0502040204020203" pitchFamily="34" charset="0"/>
                <a:ea typeface="+mj-ea"/>
                <a:cs typeface="+mj-cs"/>
              </a:rPr>
              <a:t>Introduction</a:t>
            </a:r>
          </a:p>
          <a:p>
            <a:r>
              <a:rPr lang="en-US" sz="2400" dirty="0" smtClean="0">
                <a:latin typeface="Bahnschrift Condensed" panose="020B0502040204020203" pitchFamily="34" charset="0"/>
                <a:ea typeface="+mj-ea"/>
                <a:cs typeface="+mj-cs"/>
              </a:rPr>
              <a:t>Problem Statement</a:t>
            </a:r>
          </a:p>
          <a:p>
            <a:r>
              <a:rPr lang="en-US" sz="2400" dirty="0" smtClean="0">
                <a:latin typeface="Bahnschrift Condensed" panose="020B0502040204020203" pitchFamily="34" charset="0"/>
                <a:ea typeface="+mj-ea"/>
                <a:cs typeface="+mj-cs"/>
              </a:rPr>
              <a:t>Objectives</a:t>
            </a:r>
          </a:p>
          <a:p>
            <a:r>
              <a:rPr lang="en-US" sz="2400" dirty="0" smtClean="0">
                <a:latin typeface="Bahnschrift Condensed" panose="020B0502040204020203" pitchFamily="34" charset="0"/>
                <a:ea typeface="+mj-ea"/>
                <a:cs typeface="+mj-cs"/>
              </a:rPr>
              <a:t>Block Diagram</a:t>
            </a:r>
          </a:p>
          <a:p>
            <a:r>
              <a:rPr lang="en-US" sz="2400" dirty="0" smtClean="0">
                <a:latin typeface="Bahnschrift Condensed" panose="020B0502040204020203" pitchFamily="34" charset="0"/>
                <a:ea typeface="+mj-ea"/>
                <a:cs typeface="+mj-cs"/>
              </a:rPr>
              <a:t>Methodology</a:t>
            </a:r>
          </a:p>
          <a:p>
            <a:r>
              <a:rPr lang="en-US" sz="2400" dirty="0" smtClean="0">
                <a:latin typeface="Bahnschrift Condensed" panose="020B0502040204020203" pitchFamily="34" charset="0"/>
                <a:ea typeface="+mj-ea"/>
                <a:cs typeface="+mj-cs"/>
              </a:rPr>
              <a:t>Result &amp; Discussion</a:t>
            </a:r>
          </a:p>
          <a:p>
            <a:r>
              <a:rPr lang="en-US" sz="2400" dirty="0" smtClean="0">
                <a:latin typeface="Bahnschrift Condensed" panose="020B0502040204020203" pitchFamily="34" charset="0"/>
                <a:ea typeface="+mj-ea"/>
                <a:cs typeface="+mj-cs"/>
              </a:rPr>
              <a:t>Conclusion</a:t>
            </a:r>
          </a:p>
          <a:p>
            <a:r>
              <a:rPr lang="en-US" sz="2400" dirty="0" smtClean="0">
                <a:latin typeface="Bahnschrift Condensed" panose="020B0502040204020203" pitchFamily="34" charset="0"/>
                <a:ea typeface="+mj-ea"/>
                <a:cs typeface="+mj-cs"/>
              </a:rPr>
              <a:t> </a:t>
            </a:r>
            <a:r>
              <a:rPr lang="en-US" sz="2400" dirty="0">
                <a:latin typeface="Bahnschrift Condensed" panose="020B0502040204020203" pitchFamily="34" charset="0"/>
                <a:ea typeface="+mj-ea"/>
                <a:cs typeface="+mj-cs"/>
              </a:rPr>
              <a:t>R</a:t>
            </a:r>
            <a:r>
              <a:rPr lang="en-US" sz="2400" dirty="0" smtClean="0">
                <a:latin typeface="Bahnschrift Condensed" panose="020B0502040204020203" pitchFamily="34" charset="0"/>
                <a:ea typeface="+mj-ea"/>
                <a:cs typeface="+mj-cs"/>
              </a:rPr>
              <a:t>eferences </a:t>
            </a:r>
          </a:p>
          <a:p>
            <a:endParaRPr lang="en-US" sz="2400" dirty="0" smtClean="0">
              <a:latin typeface="Bahnschrift Condensed" panose="020B0502040204020203" pitchFamily="34" charset="0"/>
              <a:ea typeface="+mj-ea"/>
              <a:cs typeface="+mj-cs"/>
            </a:endParaRPr>
          </a:p>
          <a:p>
            <a:endParaRPr lang="en-US" sz="2400" dirty="0" smtClean="0">
              <a:latin typeface="Bahnschrift Condensed" panose="020B0502040204020203" pitchFamily="34" charset="0"/>
              <a:ea typeface="+mj-ea"/>
              <a:cs typeface="+mj-cs"/>
            </a:endParaRPr>
          </a:p>
          <a:p>
            <a:pPr marL="0" indent="0">
              <a:buNone/>
            </a:pPr>
            <a:endParaRPr lang="en-US" sz="2400" dirty="0">
              <a:latin typeface="Bahnschrift Condensed" panose="020B0502040204020203" pitchFamily="34" charset="0"/>
              <a:ea typeface="+mj-ea"/>
              <a:cs typeface="+mj-cs"/>
            </a:endParaRPr>
          </a:p>
          <a:p>
            <a:endParaRPr lang="en-US" dirty="0"/>
          </a:p>
        </p:txBody>
      </p:sp>
      <p:grpSp>
        <p:nvGrpSpPr>
          <p:cNvPr id="5" name="Group 4"/>
          <p:cNvGrpSpPr/>
          <p:nvPr/>
        </p:nvGrpSpPr>
        <p:grpSpPr>
          <a:xfrm>
            <a:off x="0" y="-36576"/>
            <a:ext cx="12192000" cy="1426464"/>
            <a:chOff x="0" y="0"/>
            <a:chExt cx="24384000" cy="3156966"/>
          </a:xfrm>
        </p:grpSpPr>
        <p:sp>
          <p:nvSpPr>
            <p:cNvPr id="6" name="Freeform 5"/>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2"/>
              <a:stretch>
                <a:fillRect t="-5232" b="-5232"/>
              </a:stretch>
            </a:blipFill>
          </p:spPr>
          <p:txBody>
            <a:bodyPr/>
            <a:lstStyle/>
            <a:p>
              <a:endParaRPr lang="en-IN"/>
            </a:p>
          </p:txBody>
        </p:sp>
      </p:grpSp>
    </p:spTree>
    <p:extLst>
      <p:ext uri="{BB962C8B-B14F-4D97-AF65-F5344CB8AC3E}">
        <p14:creationId xmlns:p14="http://schemas.microsoft.com/office/powerpoint/2010/main" val="4010426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7540"/>
            <a:ext cx="10515600" cy="1325563"/>
          </a:xfrm>
        </p:spPr>
        <p:txBody>
          <a:bodyPr>
            <a:normAutofit fontScale="90000"/>
          </a:bodyPr>
          <a:lstStyle/>
          <a:p>
            <a:r>
              <a:rPr lang="en-US" b="1" dirty="0" smtClean="0"/>
              <a:t/>
            </a:r>
            <a:br>
              <a:rPr lang="en-US" b="1" dirty="0" smtClean="0"/>
            </a:br>
            <a:r>
              <a:rPr lang="en-US" b="1" dirty="0" smtClean="0"/>
              <a:t/>
            </a:r>
            <a:br>
              <a:rPr lang="en-US" b="1" dirty="0" smtClean="0"/>
            </a:br>
            <a:endParaRPr lang="en-IN" b="1" dirty="0"/>
          </a:p>
        </p:txBody>
      </p:sp>
      <p:sp>
        <p:nvSpPr>
          <p:cNvPr id="3" name="Content Placeholder 2"/>
          <p:cNvSpPr>
            <a:spLocks noGrp="1"/>
          </p:cNvSpPr>
          <p:nvPr>
            <p:ph idx="1"/>
          </p:nvPr>
        </p:nvSpPr>
        <p:spPr>
          <a:xfrm>
            <a:off x="747346" y="1216152"/>
            <a:ext cx="10606454" cy="5272571"/>
          </a:xfrm>
        </p:spPr>
        <p:txBody>
          <a:bodyPr>
            <a:normAutofit/>
          </a:bodyPr>
          <a:lstStyle/>
          <a:p>
            <a:pPr marL="0" indent="0" algn="just">
              <a:buNone/>
            </a:pPr>
            <a:r>
              <a:rPr lang="en-US" sz="4000" b="1" dirty="0" smtClean="0">
                <a:latin typeface="+mj-lt"/>
                <a:cs typeface="Times New Roman" panose="02020603050405020304" pitchFamily="18" charset="0"/>
              </a:rPr>
              <a:t>Abstract</a:t>
            </a:r>
          </a:p>
          <a:p>
            <a:pPr marL="0" indent="0" algn="just">
              <a:buNone/>
            </a:pPr>
            <a:r>
              <a:rPr lang="en-US" sz="2300" dirty="0" smtClean="0">
                <a:latin typeface="Times New Roman" panose="02020603050405020304" pitchFamily="18" charset="0"/>
                <a:cs typeface="Times New Roman" panose="02020603050405020304" pitchFamily="18" charset="0"/>
              </a:rPr>
              <a:t>The study focuses on predicting train delays using deep learning techniques to enhance rail operations, passenger satisfaction, and traffic management. A comprehensive dataset comprising operational and environmental features such as distance between stations, weather conditions, weekday, train type, time slot, congestion level, and historical delays was utilized. Four deep learning models DNN, CNN, LSTM, and </a:t>
            </a:r>
            <a:r>
              <a:rPr lang="en-US" sz="2300" dirty="0" err="1" smtClean="0">
                <a:latin typeface="Times New Roman" panose="02020603050405020304" pitchFamily="18" charset="0"/>
                <a:cs typeface="Times New Roman" panose="02020603050405020304" pitchFamily="18" charset="0"/>
              </a:rPr>
              <a:t>BiLSTM</a:t>
            </a:r>
            <a:r>
              <a:rPr lang="en-US" sz="2300" dirty="0" smtClean="0">
                <a:latin typeface="Times New Roman" panose="02020603050405020304" pitchFamily="18" charset="0"/>
                <a:cs typeface="Times New Roman" panose="02020603050405020304" pitchFamily="18" charset="0"/>
              </a:rPr>
              <a:t> were implemented and evaluated to determine their performance in train delay prediction. The data underwent preprocessing steps, including cleaning, encoding, normalization, and splitting into training and testing sets to ensure consistent and efficient model performance. Experimental results demonstrated improved accuracy and reliability, as measured by evaluation metrics such as R², MAE, RMSE, and </a:t>
            </a:r>
            <a:r>
              <a:rPr lang="en-US" sz="2300" dirty="0" err="1" smtClean="0">
                <a:latin typeface="Times New Roman" panose="02020603050405020304" pitchFamily="18" charset="0"/>
                <a:cs typeface="Times New Roman" panose="02020603050405020304" pitchFamily="18" charset="0"/>
              </a:rPr>
              <a:t>sMAPE</a:t>
            </a:r>
            <a:r>
              <a:rPr lang="en-US" sz="2300" dirty="0" smtClean="0">
                <a:latin typeface="Times New Roman" panose="02020603050405020304" pitchFamily="18" charset="0"/>
                <a:cs typeface="Times New Roman" panose="02020603050405020304" pitchFamily="18" charset="0"/>
              </a:rPr>
              <a:t>. Among these models, </a:t>
            </a:r>
            <a:r>
              <a:rPr lang="en-US" sz="2300" dirty="0" err="1" smtClean="0">
                <a:latin typeface="Times New Roman" panose="02020603050405020304" pitchFamily="18" charset="0"/>
                <a:cs typeface="Times New Roman" panose="02020603050405020304" pitchFamily="18" charset="0"/>
              </a:rPr>
              <a:t>BiLSTM</a:t>
            </a:r>
            <a:r>
              <a:rPr lang="en-US" sz="2300" dirty="0" smtClean="0">
                <a:latin typeface="Times New Roman" panose="02020603050405020304" pitchFamily="18" charset="0"/>
                <a:cs typeface="Times New Roman" panose="02020603050405020304" pitchFamily="18" charset="0"/>
              </a:rPr>
              <a:t> showed superior predictive capability, indicating strong potential for real-time railway delay forecasting and contributing to the development of intelligent transportation systems and smart city infrastructure.</a:t>
            </a:r>
          </a:p>
          <a:p>
            <a:pPr marL="0" indent="0" algn="just">
              <a:buNone/>
            </a:pPr>
            <a:endParaRPr lang="en-IN" dirty="0">
              <a:latin typeface="Times New Roman" panose="02020603050405020304" pitchFamily="18" charset="0"/>
              <a:cs typeface="Times New Roman" panose="02020603050405020304" pitchFamily="18" charset="0"/>
            </a:endParaRPr>
          </a:p>
        </p:txBody>
      </p:sp>
      <p:grpSp>
        <p:nvGrpSpPr>
          <p:cNvPr id="7" name="Group 6"/>
          <p:cNvGrpSpPr/>
          <p:nvPr/>
        </p:nvGrpSpPr>
        <p:grpSpPr>
          <a:xfrm>
            <a:off x="0" y="-91440"/>
            <a:ext cx="12192000" cy="1161288"/>
            <a:chOff x="0" y="0"/>
            <a:chExt cx="24384000" cy="3156966"/>
          </a:xfrm>
        </p:grpSpPr>
        <p:sp>
          <p:nvSpPr>
            <p:cNvPr id="8" name="Freeform 7"/>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2"/>
              <a:stretch>
                <a:fillRect t="-5232" b="-5232"/>
              </a:stretch>
            </a:blipFill>
          </p:spPr>
          <p:txBody>
            <a:bodyPr/>
            <a:lstStyle/>
            <a:p>
              <a:endParaRPr lang="en-IN"/>
            </a:p>
          </p:txBody>
        </p:sp>
      </p:grpSp>
    </p:spTree>
    <p:extLst>
      <p:ext uri="{BB962C8B-B14F-4D97-AF65-F5344CB8AC3E}">
        <p14:creationId xmlns:p14="http://schemas.microsoft.com/office/powerpoint/2010/main" val="1212576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7540"/>
            <a:ext cx="10515600" cy="1377215"/>
          </a:xfrm>
        </p:spPr>
        <p:txBody>
          <a:bodyPr>
            <a:normAutofit fontScale="90000"/>
          </a:bodyPr>
          <a:lstStyle/>
          <a:p>
            <a:r>
              <a:rPr lang="en-US" b="1" dirty="0" smtClean="0"/>
              <a:t/>
            </a:r>
            <a:br>
              <a:rPr lang="en-US" b="1" dirty="0" smtClean="0"/>
            </a:br>
            <a:r>
              <a:rPr lang="en-US" b="1" dirty="0"/>
              <a:t/>
            </a:r>
            <a:br>
              <a:rPr lang="en-US" b="1" dirty="0"/>
            </a:br>
            <a:r>
              <a:rPr lang="en-US" b="1" dirty="0" smtClean="0"/>
              <a:t>Introduction</a:t>
            </a:r>
            <a:endParaRPr lang="en-IN" b="1" dirty="0"/>
          </a:p>
        </p:txBody>
      </p:sp>
      <p:sp>
        <p:nvSpPr>
          <p:cNvPr id="3" name="Content Placeholder 2"/>
          <p:cNvSpPr>
            <a:spLocks noGrp="1"/>
          </p:cNvSpPr>
          <p:nvPr>
            <p:ph idx="1"/>
          </p:nvPr>
        </p:nvSpPr>
        <p:spPr>
          <a:xfrm>
            <a:off x="838200" y="1825624"/>
            <a:ext cx="10978662" cy="4812567"/>
          </a:xfrm>
        </p:spPr>
        <p:txBody>
          <a:bodyPr>
            <a:noAutofit/>
          </a:bodyPr>
          <a:lstStyle/>
          <a:p>
            <a:pPr marL="0" indent="0" algn="just">
              <a:buNone/>
            </a:pPr>
            <a:r>
              <a:rPr lang="en-US" sz="2100" dirty="0">
                <a:latin typeface="Times New Roman" panose="02020603050405020304" pitchFamily="18" charset="0"/>
                <a:cs typeface="Times New Roman" panose="02020603050405020304" pitchFamily="18" charset="0"/>
              </a:rPr>
              <a:t>The project focuses on predicting train delays using deep learning techniques applied to operational and environmental railway data. It compares four models — DNN, CNN, LSTM, and </a:t>
            </a:r>
            <a:r>
              <a:rPr lang="en-US" sz="2100" dirty="0" err="1">
                <a:latin typeface="Times New Roman" panose="02020603050405020304" pitchFamily="18" charset="0"/>
                <a:cs typeface="Times New Roman" panose="02020603050405020304" pitchFamily="18" charset="0"/>
              </a:rPr>
              <a:t>BiLSTM</a:t>
            </a:r>
            <a:r>
              <a:rPr lang="en-US" sz="2100" dirty="0">
                <a:latin typeface="Times New Roman" panose="02020603050405020304" pitchFamily="18" charset="0"/>
                <a:cs typeface="Times New Roman" panose="02020603050405020304" pitchFamily="18" charset="0"/>
              </a:rPr>
              <a:t> — to determine the most accurate approach for time-series delay prediction. Among these, the </a:t>
            </a:r>
            <a:r>
              <a:rPr lang="en-US" sz="2100" dirty="0" err="1">
                <a:latin typeface="Times New Roman" panose="02020603050405020304" pitchFamily="18" charset="0"/>
                <a:cs typeface="Times New Roman" panose="02020603050405020304" pitchFamily="18" charset="0"/>
              </a:rPr>
              <a:t>BiLSTM</a:t>
            </a:r>
            <a:r>
              <a:rPr lang="en-US" sz="2100" dirty="0">
                <a:latin typeface="Times New Roman" panose="02020603050405020304" pitchFamily="18" charset="0"/>
                <a:cs typeface="Times New Roman" panose="02020603050405020304" pitchFamily="18" charset="0"/>
              </a:rPr>
              <a:t> model achieved the best results, demonstrating its effectiveness in real-time forecasting and intelligent railway system management. The motivation behind this project arises from the frequent train delays that cause inconvenience to passengers and challenges for railway authorities. Traditional prediction methods are unable to handle complex, non-linear factors such as weather conditions, congestion levels, and historical delay patterns. With advancements in deep learning, models like LSTM and </a:t>
            </a:r>
            <a:r>
              <a:rPr lang="en-US" sz="2100" dirty="0" err="1">
                <a:latin typeface="Times New Roman" panose="02020603050405020304" pitchFamily="18" charset="0"/>
                <a:cs typeface="Times New Roman" panose="02020603050405020304" pitchFamily="18" charset="0"/>
              </a:rPr>
              <a:t>BiLSTM</a:t>
            </a:r>
            <a:r>
              <a:rPr lang="en-US" sz="2100" dirty="0">
                <a:latin typeface="Times New Roman" panose="02020603050405020304" pitchFamily="18" charset="0"/>
                <a:cs typeface="Times New Roman" panose="02020603050405020304" pitchFamily="18" charset="0"/>
              </a:rPr>
              <a:t> provide powerful tools to accurately forecast train delays and enhance real-time management</a:t>
            </a:r>
            <a:r>
              <a:rPr lang="en-US" sz="2100" dirty="0" smtClean="0">
                <a:latin typeface="Times New Roman" panose="02020603050405020304" pitchFamily="18" charset="0"/>
                <a:cs typeface="Times New Roman" panose="02020603050405020304" pitchFamily="18" charset="0"/>
              </a:rPr>
              <a:t>.</a:t>
            </a:r>
            <a:r>
              <a:rPr lang="en-US" sz="2100" dirty="0">
                <a:latin typeface="Times New Roman" panose="02020603050405020304" pitchFamily="18" charset="0"/>
                <a:cs typeface="Times New Roman" panose="02020603050405020304" pitchFamily="18" charset="0"/>
              </a:rPr>
              <a:t> Among these, the </a:t>
            </a:r>
            <a:r>
              <a:rPr lang="en-US" sz="2100" dirty="0" err="1">
                <a:latin typeface="Times New Roman" panose="02020603050405020304" pitchFamily="18" charset="0"/>
                <a:cs typeface="Times New Roman" panose="02020603050405020304" pitchFamily="18" charset="0"/>
              </a:rPr>
              <a:t>BiLSTM</a:t>
            </a:r>
            <a:r>
              <a:rPr lang="en-US" sz="2100" dirty="0">
                <a:latin typeface="Times New Roman" panose="02020603050405020304" pitchFamily="18" charset="0"/>
                <a:cs typeface="Times New Roman" panose="02020603050405020304" pitchFamily="18" charset="0"/>
              </a:rPr>
              <a:t> model provides the most accurate and reliable predictions, enabling real-time forecasting, efficient train scheduling, and improved passenger satisfaction. This approach contributes to developing smarter, data-driven, and more sustainable railway management systems</a:t>
            </a:r>
            <a:r>
              <a:rPr lang="en-US" sz="2100" dirty="0" smtClean="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This project is highly relevant as it contributes to improving passenger satisfaction, optimizing train schedules, and increasing overall system efficiency. By integrating deep learning into railway operations, the project aims to make railways smarter, reduce delays, and enhance the overall travel experience</a:t>
            </a:r>
            <a:r>
              <a:rPr lang="en-US" sz="2100" dirty="0" smtClean="0">
                <a:latin typeface="Times New Roman" panose="02020603050405020304" pitchFamily="18" charset="0"/>
                <a:cs typeface="Times New Roman" panose="02020603050405020304" pitchFamily="18" charset="0"/>
              </a:rPr>
              <a:t>.</a:t>
            </a:r>
            <a:endParaRPr lang="en-US" sz="2100" dirty="0">
              <a:latin typeface="Times New Roman" panose="02020603050405020304" pitchFamily="18" charset="0"/>
              <a:cs typeface="Times New Roman" panose="02020603050405020304" pitchFamily="18" charset="0"/>
            </a:endParaRPr>
          </a:p>
        </p:txBody>
      </p:sp>
      <p:grpSp>
        <p:nvGrpSpPr>
          <p:cNvPr id="7" name="Group 6"/>
          <p:cNvGrpSpPr/>
          <p:nvPr/>
        </p:nvGrpSpPr>
        <p:grpSpPr>
          <a:xfrm>
            <a:off x="0" y="-36576"/>
            <a:ext cx="12192000" cy="1161288"/>
            <a:chOff x="0" y="0"/>
            <a:chExt cx="24384000" cy="3156966"/>
          </a:xfrm>
        </p:grpSpPr>
        <p:sp>
          <p:nvSpPr>
            <p:cNvPr id="8" name="Freeform 7"/>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2"/>
              <a:stretch>
                <a:fillRect t="-5232" b="-5232"/>
              </a:stretch>
            </a:blipFill>
          </p:spPr>
          <p:txBody>
            <a:bodyPr/>
            <a:lstStyle/>
            <a:p>
              <a:endParaRPr lang="en-IN"/>
            </a:p>
          </p:txBody>
        </p:sp>
      </p:grpSp>
    </p:spTree>
    <p:extLst>
      <p:ext uri="{BB962C8B-B14F-4D97-AF65-F5344CB8AC3E}">
        <p14:creationId xmlns:p14="http://schemas.microsoft.com/office/powerpoint/2010/main" val="1716699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t/>
            </a:r>
            <a:br>
              <a:rPr lang="en-US" sz="4000" b="1" dirty="0" smtClean="0"/>
            </a:br>
            <a:r>
              <a:rPr lang="en-US" sz="4000" b="1" dirty="0" smtClean="0"/>
              <a:t/>
            </a:r>
            <a:br>
              <a:rPr lang="en-US" sz="4000" b="1" dirty="0" smtClean="0"/>
            </a:br>
            <a:r>
              <a:rPr lang="en-US" sz="4000" b="1" dirty="0" smtClean="0"/>
              <a:t>Problem Statement</a:t>
            </a:r>
            <a:r>
              <a:rPr lang="en-IN" sz="4000" b="1" dirty="0"/>
              <a:t/>
            </a:r>
            <a:br>
              <a:rPr lang="en-IN" sz="4000" b="1" dirty="0"/>
            </a:br>
            <a:endParaRPr lang="en-IN" sz="4000" b="1" dirty="0"/>
          </a:p>
        </p:txBody>
      </p:sp>
      <p:sp>
        <p:nvSpPr>
          <p:cNvPr id="3" name="Content Placeholder 2"/>
          <p:cNvSpPr>
            <a:spLocks noGrp="1"/>
          </p:cNvSpPr>
          <p:nvPr>
            <p:ph idx="1"/>
          </p:nvPr>
        </p:nvSpPr>
        <p:spPr>
          <a:xfrm>
            <a:off x="747346" y="1690687"/>
            <a:ext cx="10606454" cy="4486275"/>
          </a:xfrm>
        </p:spPr>
        <p:txBody>
          <a:bodyPr>
            <a:normAutofit fontScale="70000" lnSpcReduction="20000"/>
          </a:bodyPr>
          <a:lstStyle/>
          <a:p>
            <a:pPr marL="342900" indent="-342900" algn="just"/>
            <a:r>
              <a:rPr lang="en-IN" b="1" dirty="0"/>
              <a:t>Inefficiency of Traditional Models</a:t>
            </a:r>
          </a:p>
          <a:p>
            <a:pPr marL="0" indent="0" algn="just">
              <a:buNone/>
            </a:pPr>
            <a:r>
              <a:rPr lang="en-US" dirty="0"/>
              <a:t>Conventional machine learning and statistical models fail to effectively capture complex non-linear relationships and long-term dependencies present in railway operational data</a:t>
            </a:r>
            <a:r>
              <a:rPr lang="en-US" sz="3200" dirty="0"/>
              <a:t>.</a:t>
            </a:r>
          </a:p>
          <a:p>
            <a:pPr marL="342900" indent="-342900" algn="just"/>
            <a:r>
              <a:rPr lang="en-IN" b="1" dirty="0"/>
              <a:t>Integration Gap with Smart Transportation Systems</a:t>
            </a:r>
          </a:p>
          <a:p>
            <a:pPr marL="0" indent="0" algn="just">
              <a:buNone/>
            </a:pPr>
            <a:r>
              <a:rPr lang="en-US" dirty="0"/>
              <a:t>Existing research does not sufficiently bridge predictive modeling with intelligent railway management systems for automated scheduling and passenger information</a:t>
            </a:r>
            <a:r>
              <a:rPr lang="en-US" sz="3200" dirty="0"/>
              <a:t>.</a:t>
            </a:r>
          </a:p>
          <a:p>
            <a:pPr marL="342900" indent="-342900" algn="just"/>
            <a:r>
              <a:rPr lang="en-US" b="1" dirty="0"/>
              <a:t>Insufficient Use of Multidimensional Data</a:t>
            </a:r>
            <a:endParaRPr lang="en-US" b="1" dirty="0">
              <a:latin typeface="Times New Roman" panose="02020603050405020304" pitchFamily="18" charset="0"/>
              <a:cs typeface="Times New Roman" panose="02020603050405020304" pitchFamily="18" charset="0"/>
            </a:endParaRPr>
          </a:p>
          <a:p>
            <a:pPr marL="0" indent="0" algn="just">
              <a:buNone/>
            </a:pPr>
            <a:r>
              <a:rPr lang="en-US" dirty="0" smtClean="0"/>
              <a:t>Current </a:t>
            </a:r>
            <a:r>
              <a:rPr lang="en-US" dirty="0"/>
              <a:t>studies often overlook important operational and environmental parameters (</a:t>
            </a:r>
            <a:r>
              <a:rPr lang="en-US" dirty="0" smtClean="0"/>
              <a:t>like time </a:t>
            </a:r>
            <a:r>
              <a:rPr lang="en-US" dirty="0"/>
              <a:t>of day, station distance, and route congestion) that significantly affect delay prediction.</a:t>
            </a:r>
          </a:p>
          <a:p>
            <a:pPr marL="342900" indent="-342900" algn="just"/>
            <a:r>
              <a:rPr lang="en-IN" b="1" dirty="0"/>
              <a:t>Limited Comparative Analysis</a:t>
            </a:r>
          </a:p>
          <a:p>
            <a:pPr marL="0" indent="0" algn="just">
              <a:buNone/>
            </a:pPr>
            <a:r>
              <a:rPr lang="en-US" dirty="0" smtClean="0"/>
              <a:t>There </a:t>
            </a:r>
            <a:r>
              <a:rPr lang="en-US" dirty="0"/>
              <a:t>is a lack of comprehensive evaluation among different deep learning architectures (DNN, CNN, LSTM, </a:t>
            </a:r>
            <a:r>
              <a:rPr lang="en-US" dirty="0" err="1"/>
              <a:t>BiLSTM</a:t>
            </a:r>
            <a:r>
              <a:rPr lang="en-US" dirty="0"/>
              <a:t>) under uniform experimental conditions.</a:t>
            </a:r>
          </a:p>
          <a:p>
            <a:pPr marL="342900" indent="-342900" algn="just"/>
            <a:r>
              <a:rPr lang="en-IN" b="1" dirty="0"/>
              <a:t>High Computational Cost</a:t>
            </a:r>
          </a:p>
          <a:p>
            <a:pPr marL="0" indent="0" algn="just">
              <a:buNone/>
            </a:pPr>
            <a:r>
              <a:rPr lang="en-US" dirty="0"/>
              <a:t>Advanced models like </a:t>
            </a:r>
            <a:r>
              <a:rPr lang="en-US" dirty="0" err="1"/>
              <a:t>BiLSTM</a:t>
            </a:r>
            <a:r>
              <a:rPr lang="en-US" dirty="0"/>
              <a:t>, though accurate, often demand high training time and computational power, making deployment in real-time systems difficult.</a:t>
            </a:r>
            <a:endParaRPr lang="en-US" b="1" dirty="0">
              <a:latin typeface="Times New Roman" panose="02020603050405020304" pitchFamily="18" charset="0"/>
              <a:cs typeface="Times New Roman" panose="02020603050405020304" pitchFamily="18" charset="0"/>
            </a:endParaRPr>
          </a:p>
        </p:txBody>
      </p:sp>
      <p:grpSp>
        <p:nvGrpSpPr>
          <p:cNvPr id="5" name="Group 4"/>
          <p:cNvGrpSpPr/>
          <p:nvPr/>
        </p:nvGrpSpPr>
        <p:grpSpPr>
          <a:xfrm>
            <a:off x="0" y="-91440"/>
            <a:ext cx="12192000" cy="1058594"/>
            <a:chOff x="0" y="0"/>
            <a:chExt cx="24384000" cy="3156966"/>
          </a:xfrm>
        </p:grpSpPr>
        <p:sp>
          <p:nvSpPr>
            <p:cNvPr id="6" name="Freeform 5"/>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2"/>
              <a:stretch>
                <a:fillRect t="-5232" b="-5232"/>
              </a:stretch>
            </a:blipFill>
          </p:spPr>
          <p:txBody>
            <a:bodyPr/>
            <a:lstStyle/>
            <a:p>
              <a:endParaRPr lang="en-IN"/>
            </a:p>
          </p:txBody>
        </p:sp>
      </p:grpSp>
    </p:spTree>
    <p:extLst>
      <p:ext uri="{BB962C8B-B14F-4D97-AF65-F5344CB8AC3E}">
        <p14:creationId xmlns:p14="http://schemas.microsoft.com/office/powerpoint/2010/main" val="4197499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10" dirty="0" smtClean="0"/>
              <a:t/>
            </a:r>
            <a:br>
              <a:rPr lang="en-US" spc="-10" dirty="0" smtClean="0"/>
            </a:br>
            <a:r>
              <a:rPr lang="en-US" sz="4000" b="1" spc="-10" dirty="0" smtClean="0"/>
              <a:t>Objectives</a:t>
            </a:r>
            <a:endParaRPr lang="en-IN" sz="4000" b="1" dirty="0"/>
          </a:p>
        </p:txBody>
      </p:sp>
      <p:sp>
        <p:nvSpPr>
          <p:cNvPr id="3" name="Content Placeholder 2"/>
          <p:cNvSpPr>
            <a:spLocks noGrp="1"/>
          </p:cNvSpPr>
          <p:nvPr>
            <p:ph idx="1"/>
          </p:nvPr>
        </p:nvSpPr>
        <p:spPr>
          <a:xfrm>
            <a:off x="838200" y="1825624"/>
            <a:ext cx="10583008" cy="4452083"/>
          </a:xfrm>
        </p:spPr>
        <p:txBody>
          <a:bodyPr>
            <a:normAutofit fontScale="70000" lnSpcReduction="20000"/>
          </a:bodyPr>
          <a:lstStyle/>
          <a:p>
            <a:pPr marL="342900" indent="-342900" algn="just">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To develop a  Deep Learning Model for accurate and efficient </a:t>
            </a:r>
            <a:r>
              <a:rPr lang="en-IN" dirty="0"/>
              <a:t>Train Delay Prediction.</a:t>
            </a:r>
            <a:endParaRPr lang="en-US"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Specific </a:t>
            </a:r>
            <a:r>
              <a:rPr lang="en-US" sz="3200" dirty="0" smtClean="0">
                <a:latin typeface="Times New Roman" panose="02020603050405020304" pitchFamily="18" charset="0"/>
                <a:cs typeface="Times New Roman" panose="02020603050405020304" pitchFamily="18" charset="0"/>
              </a:rPr>
              <a:t>Objectives:</a:t>
            </a:r>
            <a:endParaRPr lang="en-US" sz="3200" dirty="0">
              <a:latin typeface="Times New Roman" panose="02020603050405020304" pitchFamily="18" charset="0"/>
              <a:cs typeface="Times New Roman" panose="02020603050405020304" pitchFamily="18" charset="0"/>
            </a:endParaRPr>
          </a:p>
          <a:p>
            <a:pPr algn="just"/>
            <a:r>
              <a:rPr lang="en-US" dirty="0"/>
              <a:t>To develop a deep learning framework for accurate prediction of train delays using operational and environmental railway data.</a:t>
            </a:r>
          </a:p>
          <a:p>
            <a:pPr algn="just"/>
            <a:r>
              <a:rPr lang="en-US" dirty="0"/>
              <a:t>To preprocess and construct a comprehensive dataset that includes time-related, operational, and contextual factors such as weather, distance, congestion, and historical delays.</a:t>
            </a:r>
          </a:p>
          <a:p>
            <a:pPr algn="just"/>
            <a:r>
              <a:rPr lang="en-US" dirty="0"/>
              <a:t>To compare multiple deep learning architectures—DNN, CNN, LSTM, and </a:t>
            </a:r>
            <a:r>
              <a:rPr lang="en-US" dirty="0" err="1"/>
              <a:t>BiLSTM</a:t>
            </a:r>
            <a:r>
              <a:rPr lang="en-US" dirty="0"/>
              <a:t>—for identifying the most effective model for train delay forecasting.</a:t>
            </a:r>
          </a:p>
          <a:p>
            <a:pPr algn="just"/>
            <a:r>
              <a:rPr lang="en-US" dirty="0"/>
              <a:t>To evaluate the models’ performance using key statistical metrics like RMSE, MAE, R², and </a:t>
            </a:r>
            <a:r>
              <a:rPr lang="en-US" dirty="0" err="1"/>
              <a:t>sMAPE</a:t>
            </a:r>
            <a:r>
              <a:rPr lang="en-US" dirty="0"/>
              <a:t> for a fair and detailed comparison.</a:t>
            </a:r>
          </a:p>
          <a:p>
            <a:pPr algn="just"/>
            <a:r>
              <a:rPr lang="en-US" dirty="0"/>
              <a:t>To analyze the temporal and spatial dependencies in delay data and determine how bidirectional sequence learning (</a:t>
            </a:r>
            <a:r>
              <a:rPr lang="en-US" dirty="0" err="1"/>
              <a:t>BiLSTM</a:t>
            </a:r>
            <a:r>
              <a:rPr lang="en-US" dirty="0"/>
              <a:t>) improves predictive accuracy.</a:t>
            </a:r>
          </a:p>
          <a:p>
            <a:pPr algn="just"/>
            <a:r>
              <a:rPr lang="en-US" dirty="0"/>
              <a:t>To contribute toward the development of intelligent railway systems by enhancing real-time scheduling, passenger alerting, and traffic management through predictive analytics.</a:t>
            </a:r>
          </a:p>
        </p:txBody>
      </p:sp>
      <p:grpSp>
        <p:nvGrpSpPr>
          <p:cNvPr id="5" name="Group 4"/>
          <p:cNvGrpSpPr/>
          <p:nvPr/>
        </p:nvGrpSpPr>
        <p:grpSpPr>
          <a:xfrm>
            <a:off x="0" y="-91440"/>
            <a:ext cx="12192000" cy="1058594"/>
            <a:chOff x="0" y="0"/>
            <a:chExt cx="24384000" cy="3156966"/>
          </a:xfrm>
        </p:grpSpPr>
        <p:sp>
          <p:nvSpPr>
            <p:cNvPr id="6" name="Freeform 5"/>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2"/>
              <a:stretch>
                <a:fillRect t="-5232" b="-5232"/>
              </a:stretch>
            </a:blipFill>
          </p:spPr>
          <p:txBody>
            <a:bodyPr/>
            <a:lstStyle/>
            <a:p>
              <a:endParaRPr lang="en-IN"/>
            </a:p>
          </p:txBody>
        </p:sp>
      </p:grpSp>
    </p:spTree>
    <p:extLst>
      <p:ext uri="{BB962C8B-B14F-4D97-AF65-F5344CB8AC3E}">
        <p14:creationId xmlns:p14="http://schemas.microsoft.com/office/powerpoint/2010/main" val="3439210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
            </a:r>
            <a:br>
              <a:rPr lang="en-US" sz="4000" b="1" dirty="0" smtClean="0"/>
            </a:br>
            <a:r>
              <a:rPr lang="en-US" sz="4000" b="1" dirty="0" smtClean="0"/>
              <a:t>Block Diagram</a:t>
            </a:r>
            <a:endParaRPr lang="en-IN" sz="4000" b="1" dirty="0"/>
          </a:p>
        </p:txBody>
      </p:sp>
      <p:sp>
        <p:nvSpPr>
          <p:cNvPr id="4" name="Footer Placeholder 3"/>
          <p:cNvSpPr>
            <a:spLocks noGrp="1"/>
          </p:cNvSpPr>
          <p:nvPr>
            <p:ph type="ftr" sz="quarter" idx="11"/>
          </p:nvPr>
        </p:nvSpPr>
        <p:spPr>
          <a:xfrm>
            <a:off x="1116623" y="6075486"/>
            <a:ext cx="9847385" cy="645990"/>
          </a:xfrm>
        </p:spPr>
        <p:txBody>
          <a:bodyPr/>
          <a:lstStyle/>
          <a:p>
            <a:r>
              <a:rPr lang="en-US" sz="1800" b="1" dirty="0" smtClean="0">
                <a:solidFill>
                  <a:schemeClr val="tx1">
                    <a:lumMod val="75000"/>
                    <a:lumOff val="25000"/>
                  </a:schemeClr>
                </a:solidFill>
              </a:rPr>
              <a:t>Figure:</a:t>
            </a:r>
            <a:r>
              <a:rPr lang="en-US" sz="1800" b="1" dirty="0">
                <a:solidFill>
                  <a:schemeClr val="tx1">
                    <a:lumMod val="75000"/>
                    <a:lumOff val="25000"/>
                  </a:schemeClr>
                </a:solidFill>
                <a:latin typeface="Bahnschrift Condensed" panose="020B0502040204020203" pitchFamily="34" charset="0"/>
              </a:rPr>
              <a:t> </a:t>
            </a:r>
            <a:r>
              <a:rPr lang="en-US" sz="1800" dirty="0" smtClean="0">
                <a:solidFill>
                  <a:schemeClr val="tx1">
                    <a:lumMod val="75000"/>
                    <a:lumOff val="25000"/>
                  </a:schemeClr>
                </a:solidFill>
                <a:latin typeface="Bahnschrift Condensed" panose="020B0502040204020203" pitchFamily="34" charset="0"/>
              </a:rPr>
              <a:t>Architecture of the Train Delay Prediction Model Using Deep Learning</a:t>
            </a:r>
            <a:endParaRPr lang="en-US" sz="1800" dirty="0">
              <a:solidFill>
                <a:schemeClr val="tx1">
                  <a:lumMod val="75000"/>
                  <a:lumOff val="25000"/>
                </a:schemeClr>
              </a:solidFill>
            </a:endParaRPr>
          </a:p>
        </p:txBody>
      </p:sp>
      <p:grpSp>
        <p:nvGrpSpPr>
          <p:cNvPr id="5" name="Group 4"/>
          <p:cNvGrpSpPr/>
          <p:nvPr/>
        </p:nvGrpSpPr>
        <p:grpSpPr>
          <a:xfrm>
            <a:off x="0" y="-91440"/>
            <a:ext cx="12192000" cy="1058594"/>
            <a:chOff x="0" y="0"/>
            <a:chExt cx="24384000" cy="3156966"/>
          </a:xfrm>
        </p:grpSpPr>
        <p:sp>
          <p:nvSpPr>
            <p:cNvPr id="6" name="Freeform 5"/>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2"/>
              <a:stretch>
                <a:fillRect t="-5232" b="-5232"/>
              </a:stretch>
            </a:blipFill>
          </p:spPr>
          <p:txBody>
            <a:bodyPr/>
            <a:lstStyle/>
            <a:p>
              <a:endParaRPr lang="en-IN"/>
            </a:p>
          </p:txBody>
        </p:sp>
      </p:grpSp>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78832" y="1538654"/>
            <a:ext cx="8493868" cy="4638309"/>
          </a:xfrm>
          <a:prstGeom prst="rect">
            <a:avLst/>
          </a:prstGeom>
        </p:spPr>
      </p:pic>
    </p:spTree>
    <p:extLst>
      <p:ext uri="{BB962C8B-B14F-4D97-AF65-F5344CB8AC3E}">
        <p14:creationId xmlns:p14="http://schemas.microsoft.com/office/powerpoint/2010/main" val="3544073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b="1" dirty="0" smtClean="0"/>
              <a:t>Methodology</a:t>
            </a:r>
            <a:endParaRPr lang="en-IN" b="1" dirty="0"/>
          </a:p>
        </p:txBody>
      </p:sp>
      <p:sp>
        <p:nvSpPr>
          <p:cNvPr id="3" name="Content Placeholder 2"/>
          <p:cNvSpPr>
            <a:spLocks noGrp="1"/>
          </p:cNvSpPr>
          <p:nvPr>
            <p:ph idx="1"/>
          </p:nvPr>
        </p:nvSpPr>
        <p:spPr>
          <a:xfrm>
            <a:off x="685800" y="1690688"/>
            <a:ext cx="11016762" cy="4929920"/>
          </a:xfrm>
        </p:spPr>
        <p:txBody>
          <a:bodyPr>
            <a:normAutofit/>
          </a:bodyPr>
          <a:lstStyle/>
          <a:p>
            <a:pPr marL="0" indent="0">
              <a:buNone/>
            </a:pPr>
            <a:r>
              <a:rPr lang="en-US" sz="2400" b="1" dirty="0"/>
              <a:t>1. Data Collection</a:t>
            </a:r>
          </a:p>
          <a:p>
            <a:pPr marL="0" indent="0">
              <a:buNone/>
            </a:pPr>
            <a:r>
              <a:rPr lang="en-US" sz="2000" dirty="0"/>
              <a:t>The dataset combines both operational and environmental factors that influence train delays.</a:t>
            </a:r>
          </a:p>
          <a:p>
            <a:pPr marL="0" indent="0">
              <a:buNone/>
            </a:pPr>
            <a:r>
              <a:rPr lang="en-US" sz="2000" dirty="0"/>
              <a:t>Operational Data: Distance between stations, day of the week, time slot, train type, and historical delays.</a:t>
            </a:r>
          </a:p>
          <a:p>
            <a:pPr marL="0" indent="0">
              <a:buNone/>
            </a:pPr>
            <a:r>
              <a:rPr lang="en-US" sz="2000" dirty="0"/>
              <a:t>Environmental Data: Weather conditions and route congestion </a:t>
            </a:r>
            <a:r>
              <a:rPr lang="en-US" sz="2000" dirty="0" err="1" smtClean="0"/>
              <a:t>level.These</a:t>
            </a:r>
            <a:r>
              <a:rPr lang="en-US" sz="2000" dirty="0" smtClean="0"/>
              <a:t> </a:t>
            </a:r>
            <a:r>
              <a:rPr lang="en-US" sz="2000" dirty="0"/>
              <a:t>parameters provide comprehensive insights into the temporal and contextual causes of delays</a:t>
            </a:r>
            <a:r>
              <a:rPr lang="en-US" sz="2000" dirty="0" smtClean="0"/>
              <a:t>.</a:t>
            </a:r>
          </a:p>
          <a:p>
            <a:pPr marL="0" indent="0">
              <a:buNone/>
            </a:pPr>
            <a:r>
              <a:rPr lang="en-US" sz="2400" b="1" dirty="0"/>
              <a:t>2. Feature Extraction</a:t>
            </a:r>
          </a:p>
          <a:p>
            <a:pPr marL="0" indent="0">
              <a:buNone/>
            </a:pPr>
            <a:r>
              <a:rPr lang="en-US" sz="2000" dirty="0"/>
              <a:t>In this stage, raw data is processed to extract relevant features. Missing values are handled, categorical </a:t>
            </a:r>
            <a:r>
              <a:rPr lang="en-US" sz="2000" dirty="0" smtClean="0"/>
              <a:t>variables </a:t>
            </a:r>
            <a:r>
              <a:rPr lang="en-US" sz="2000" dirty="0"/>
              <a:t>are encoded, and numerical features are normalized. This ensures the dataset is clean, consistent, and ready for model training</a:t>
            </a:r>
            <a:r>
              <a:rPr lang="en-US" sz="2000" dirty="0" smtClean="0"/>
              <a:t>.</a:t>
            </a:r>
          </a:p>
          <a:p>
            <a:pPr marL="0" indent="0">
              <a:buNone/>
            </a:pPr>
            <a:r>
              <a:rPr lang="en-US" sz="2000" b="1" dirty="0"/>
              <a:t>3. Model Development</a:t>
            </a:r>
          </a:p>
          <a:p>
            <a:pPr marL="0" indent="0">
              <a:buNone/>
            </a:pPr>
            <a:r>
              <a:rPr lang="en-US" sz="2000" dirty="0"/>
              <a:t>Four deep learning models are developed and trained to analyze and predict train delays:</a:t>
            </a:r>
          </a:p>
          <a:p>
            <a:pPr marL="0" indent="0">
              <a:buNone/>
            </a:pPr>
            <a:r>
              <a:rPr lang="en-US" sz="2000" dirty="0"/>
              <a:t>Deep Neural Network (DNN): Captures complex non-linear relationships between features</a:t>
            </a:r>
            <a:r>
              <a:rPr lang="en-US" sz="2000" dirty="0" smtClean="0"/>
              <a:t>.</a:t>
            </a:r>
          </a:p>
          <a:p>
            <a:pPr marL="0" indent="0">
              <a:buNone/>
            </a:pPr>
            <a:endParaRPr lang="en-US" sz="2000" dirty="0"/>
          </a:p>
        </p:txBody>
      </p:sp>
      <p:grpSp>
        <p:nvGrpSpPr>
          <p:cNvPr id="17" name="Group 16"/>
          <p:cNvGrpSpPr/>
          <p:nvPr/>
        </p:nvGrpSpPr>
        <p:grpSpPr>
          <a:xfrm>
            <a:off x="0" y="-91440"/>
            <a:ext cx="12192000" cy="1058594"/>
            <a:chOff x="0" y="0"/>
            <a:chExt cx="24384000" cy="3156966"/>
          </a:xfrm>
        </p:grpSpPr>
        <p:sp>
          <p:nvSpPr>
            <p:cNvPr id="18" name="Freeform 17"/>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2"/>
              <a:stretch>
                <a:fillRect t="-5232" b="-5232"/>
              </a:stretch>
            </a:blipFill>
          </p:spPr>
          <p:txBody>
            <a:bodyPr/>
            <a:lstStyle/>
            <a:p>
              <a:endParaRPr lang="en-IN"/>
            </a:p>
          </p:txBody>
        </p:sp>
      </p:grpSp>
    </p:spTree>
    <p:extLst>
      <p:ext uri="{BB962C8B-B14F-4D97-AF65-F5344CB8AC3E}">
        <p14:creationId xmlns:p14="http://schemas.microsoft.com/office/powerpoint/2010/main" val="1926016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1839" y="1151792"/>
            <a:ext cx="10738338" cy="5209809"/>
          </a:xfrm>
        </p:spPr>
        <p:txBody>
          <a:bodyPr>
            <a:normAutofit/>
          </a:bodyPr>
          <a:lstStyle/>
          <a:p>
            <a:pPr marL="0" indent="0">
              <a:buNone/>
            </a:pPr>
            <a:r>
              <a:rPr lang="en-US" sz="2000" dirty="0"/>
              <a:t>Convolutional Neural Network (CNN): Extracts spatial and temporal feature patterns</a:t>
            </a:r>
            <a:r>
              <a:rPr lang="en-US" sz="2000" dirty="0" smtClean="0"/>
              <a:t>.</a:t>
            </a:r>
          </a:p>
          <a:p>
            <a:pPr marL="0" indent="0">
              <a:buNone/>
            </a:pPr>
            <a:r>
              <a:rPr lang="en-US" sz="2000" dirty="0" smtClean="0"/>
              <a:t>Long </a:t>
            </a:r>
            <a:r>
              <a:rPr lang="en-US" sz="2000" dirty="0"/>
              <a:t>Short-Term Memory (LSTM): Learns long-term dependencies in sequential delay data.</a:t>
            </a:r>
          </a:p>
          <a:p>
            <a:pPr marL="0" indent="0">
              <a:buNone/>
            </a:pPr>
            <a:r>
              <a:rPr lang="en-US" sz="2000" dirty="0"/>
              <a:t>Bidirectional LSTM (</a:t>
            </a:r>
            <a:r>
              <a:rPr lang="en-US" sz="2000" dirty="0" err="1"/>
              <a:t>BiLSTM</a:t>
            </a:r>
            <a:r>
              <a:rPr lang="en-US" sz="2000" dirty="0"/>
              <a:t>): Processes data in both forward and backward directions for higher accuracy</a:t>
            </a:r>
            <a:r>
              <a:rPr lang="en-US" sz="2000" dirty="0" smtClean="0"/>
              <a:t>.</a:t>
            </a:r>
          </a:p>
          <a:p>
            <a:pPr marL="0" indent="0">
              <a:buNone/>
            </a:pPr>
            <a:r>
              <a:rPr lang="en-US" sz="2000" b="1" dirty="0"/>
              <a:t>4. Model Evaluation</a:t>
            </a:r>
          </a:p>
          <a:p>
            <a:pPr marL="0" indent="0">
              <a:buNone/>
            </a:pPr>
            <a:r>
              <a:rPr lang="en-US" sz="2000" dirty="0"/>
              <a:t>Each model is evaluated using multiple statistical performance metrics:</a:t>
            </a:r>
          </a:p>
          <a:p>
            <a:pPr marL="0" indent="0">
              <a:buNone/>
            </a:pPr>
            <a:r>
              <a:rPr lang="en-US" sz="2000" dirty="0"/>
              <a:t>Root Mean Square Error (RMSE) – Measures overall prediction error.</a:t>
            </a:r>
          </a:p>
          <a:p>
            <a:pPr marL="0" indent="0">
              <a:buNone/>
            </a:pPr>
            <a:r>
              <a:rPr lang="en-US" sz="2000" dirty="0"/>
              <a:t>Mean Absolute Error (MAE) – Calculates average deviation between predicted and actual values.</a:t>
            </a:r>
          </a:p>
          <a:p>
            <a:pPr marL="0" indent="0">
              <a:buNone/>
            </a:pPr>
            <a:r>
              <a:rPr lang="en-US" sz="2000" dirty="0"/>
              <a:t>Coefficient of Determination (R²) – Indicates how well the model explains variance.</a:t>
            </a:r>
          </a:p>
          <a:p>
            <a:pPr marL="0" indent="0">
              <a:buNone/>
            </a:pPr>
            <a:r>
              <a:rPr lang="en-US" sz="2000" dirty="0"/>
              <a:t>Symmetric Mean Absolute Percentage Error (</a:t>
            </a:r>
            <a:r>
              <a:rPr lang="en-US" sz="2000" dirty="0" err="1"/>
              <a:t>sMAPE</a:t>
            </a:r>
            <a:r>
              <a:rPr lang="en-US" sz="2000" dirty="0"/>
              <a:t>) – Evaluates percentage-based prediction accuracy.</a:t>
            </a:r>
          </a:p>
          <a:p>
            <a:pPr marL="0" indent="0">
              <a:buNone/>
            </a:pPr>
            <a:r>
              <a:rPr lang="en-US" sz="2000" dirty="0"/>
              <a:t>The </a:t>
            </a:r>
            <a:r>
              <a:rPr lang="en-US" sz="2000" dirty="0" err="1"/>
              <a:t>BiLSTM</a:t>
            </a:r>
            <a:r>
              <a:rPr lang="en-US" sz="2000" dirty="0"/>
              <a:t> model achieved the best performance across all evaluation metrics, showing its effectiveness in learning bidirectional temporal dependencies.</a:t>
            </a:r>
          </a:p>
          <a:p>
            <a:pPr marL="0" indent="0">
              <a:buNone/>
            </a:pPr>
            <a:endParaRPr lang="en-US" sz="2000" dirty="0"/>
          </a:p>
          <a:p>
            <a:pPr marL="0" indent="0">
              <a:buNone/>
            </a:pPr>
            <a:endParaRPr lang="en-US" sz="2000" dirty="0"/>
          </a:p>
        </p:txBody>
      </p:sp>
      <p:grpSp>
        <p:nvGrpSpPr>
          <p:cNvPr id="5" name="Group 4"/>
          <p:cNvGrpSpPr/>
          <p:nvPr/>
        </p:nvGrpSpPr>
        <p:grpSpPr>
          <a:xfrm>
            <a:off x="0" y="-91440"/>
            <a:ext cx="12192000" cy="1058594"/>
            <a:chOff x="0" y="0"/>
            <a:chExt cx="24384000" cy="3156966"/>
          </a:xfrm>
        </p:grpSpPr>
        <p:sp>
          <p:nvSpPr>
            <p:cNvPr id="6" name="Freeform 5"/>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2"/>
              <a:stretch>
                <a:fillRect t="-5232" b="-5232"/>
              </a:stretch>
            </a:blipFill>
          </p:spPr>
          <p:txBody>
            <a:bodyPr/>
            <a:lstStyle/>
            <a:p>
              <a:endParaRPr lang="en-IN"/>
            </a:p>
          </p:txBody>
        </p:sp>
      </p:grpSp>
    </p:spTree>
    <p:extLst>
      <p:ext uri="{BB962C8B-B14F-4D97-AF65-F5344CB8AC3E}">
        <p14:creationId xmlns:p14="http://schemas.microsoft.com/office/powerpoint/2010/main" val="3565741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2369" y="1116623"/>
            <a:ext cx="10861431" cy="5060340"/>
          </a:xfrm>
        </p:spPr>
        <p:txBody>
          <a:bodyPr>
            <a:normAutofit fontScale="77500" lnSpcReduction="20000"/>
          </a:bodyPr>
          <a:lstStyle/>
          <a:p>
            <a:pPr marL="0" indent="0" algn="just">
              <a:buNone/>
            </a:pPr>
            <a:endParaRPr lang="en-US" b="1" dirty="0" smtClean="0"/>
          </a:p>
          <a:p>
            <a:pPr marL="0" indent="0" algn="just">
              <a:buNone/>
            </a:pPr>
            <a:r>
              <a:rPr lang="en-US" b="1" dirty="0" smtClean="0"/>
              <a:t>5</a:t>
            </a:r>
            <a:r>
              <a:rPr lang="en-US" b="1" dirty="0"/>
              <a:t>. Prediction and </a:t>
            </a:r>
            <a:r>
              <a:rPr lang="en-US" b="1" dirty="0" smtClean="0"/>
              <a:t>Output</a:t>
            </a:r>
          </a:p>
          <a:p>
            <a:pPr marL="0" indent="0">
              <a:buNone/>
            </a:pPr>
            <a:r>
              <a:rPr lang="en-US" dirty="0"/>
              <a:t>The trained deep learning models are used to forecast train delays based on real-time operational and environmental data.</a:t>
            </a:r>
          </a:p>
          <a:p>
            <a:pPr marL="0" indent="0">
              <a:buNone/>
            </a:pPr>
            <a:r>
              <a:rPr lang="en-US" dirty="0"/>
              <a:t>The </a:t>
            </a:r>
            <a:r>
              <a:rPr lang="en-US" dirty="0" err="1"/>
              <a:t>BiLSTM</a:t>
            </a:r>
            <a:r>
              <a:rPr lang="en-US" dirty="0"/>
              <a:t> model provides the most accurate delay predictions by learning from both past and future data sequences.</a:t>
            </a:r>
          </a:p>
          <a:p>
            <a:pPr marL="0" indent="0">
              <a:buNone/>
            </a:pPr>
            <a:r>
              <a:rPr lang="en-US" dirty="0"/>
              <a:t>Predictions are continuously updated as new data (e.g., weather or congestion changes) becomes available.</a:t>
            </a:r>
          </a:p>
          <a:p>
            <a:pPr marL="0" indent="0">
              <a:buNone/>
            </a:pPr>
            <a:r>
              <a:rPr lang="en-US" dirty="0"/>
              <a:t>Output includes estimated delay duration and probability of delay occurrence at each station.</a:t>
            </a:r>
          </a:p>
          <a:p>
            <a:pPr marL="0" indent="0">
              <a:buNone/>
            </a:pPr>
            <a:r>
              <a:rPr lang="en-US" dirty="0"/>
              <a:t>The system can be integrated with real-time railway dashboards to alert operators and passengers.</a:t>
            </a:r>
          </a:p>
          <a:p>
            <a:pPr marL="0" indent="0">
              <a:buNone/>
            </a:pPr>
            <a:r>
              <a:rPr lang="en-US" dirty="0"/>
              <a:t>Helps railway authorities reschedule trains, reduce congestion, and optimize resource allocation.</a:t>
            </a:r>
          </a:p>
          <a:p>
            <a:pPr marL="0" indent="0">
              <a:buNone/>
            </a:pPr>
            <a:r>
              <a:rPr lang="en-US" dirty="0"/>
              <a:t>Improves passenger experience by providing timely and reliable delay information.</a:t>
            </a:r>
          </a:p>
          <a:p>
            <a:pPr marL="0" indent="0">
              <a:buNone/>
            </a:pPr>
            <a:r>
              <a:rPr lang="en-US" dirty="0"/>
              <a:t>Forms the basis for future AI-driven decision support systems in smart railway management.</a:t>
            </a:r>
          </a:p>
          <a:p>
            <a:pPr marL="0" indent="0" algn="just">
              <a:buNone/>
            </a:pPr>
            <a:endParaRPr lang="en-US" dirty="0"/>
          </a:p>
        </p:txBody>
      </p:sp>
      <p:grpSp>
        <p:nvGrpSpPr>
          <p:cNvPr id="7" name="Group 6"/>
          <p:cNvGrpSpPr/>
          <p:nvPr/>
        </p:nvGrpSpPr>
        <p:grpSpPr>
          <a:xfrm>
            <a:off x="0" y="0"/>
            <a:ext cx="12192000" cy="1292469"/>
            <a:chOff x="0" y="0"/>
            <a:chExt cx="24384000" cy="3156966"/>
          </a:xfrm>
        </p:grpSpPr>
        <p:sp>
          <p:nvSpPr>
            <p:cNvPr id="8" name="Freeform 7"/>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2"/>
              <a:stretch>
                <a:fillRect t="-5232" b="-5232"/>
              </a:stretch>
            </a:blipFill>
          </p:spPr>
          <p:txBody>
            <a:bodyPr/>
            <a:lstStyle/>
            <a:p>
              <a:endParaRPr lang="en-IN"/>
            </a:p>
          </p:txBody>
        </p:sp>
      </p:grpSp>
    </p:spTree>
    <p:extLst>
      <p:ext uri="{BB962C8B-B14F-4D97-AF65-F5344CB8AC3E}">
        <p14:creationId xmlns:p14="http://schemas.microsoft.com/office/powerpoint/2010/main" val="1034259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
            </a:r>
            <a:br>
              <a:rPr lang="en-US" sz="4000" b="1" dirty="0" smtClean="0"/>
            </a:br>
            <a:r>
              <a:rPr lang="en-US" sz="4000" b="1" dirty="0" smtClean="0"/>
              <a:t>Result &amp; Discussion</a:t>
            </a:r>
            <a:endParaRPr lang="en-IN" sz="4000" b="1"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8408" y="1690688"/>
            <a:ext cx="6400799" cy="4762866"/>
          </a:xfrm>
        </p:spPr>
      </p:pic>
      <p:grpSp>
        <p:nvGrpSpPr>
          <p:cNvPr id="5" name="Group 4"/>
          <p:cNvGrpSpPr/>
          <p:nvPr/>
        </p:nvGrpSpPr>
        <p:grpSpPr>
          <a:xfrm>
            <a:off x="0" y="-91440"/>
            <a:ext cx="12192000" cy="1058594"/>
            <a:chOff x="0" y="0"/>
            <a:chExt cx="24384000" cy="3156966"/>
          </a:xfrm>
        </p:grpSpPr>
        <p:sp>
          <p:nvSpPr>
            <p:cNvPr id="6" name="Freeform 5"/>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3"/>
              <a:stretch>
                <a:fillRect t="-5232" b="-5232"/>
              </a:stretch>
            </a:blipFill>
          </p:spPr>
          <p:txBody>
            <a:bodyPr/>
            <a:lstStyle/>
            <a:p>
              <a:endParaRPr lang="en-IN"/>
            </a:p>
          </p:txBody>
        </p:sp>
      </p:gr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2478" y="2233246"/>
            <a:ext cx="4854721" cy="2883878"/>
          </a:xfrm>
          <a:prstGeom prst="rect">
            <a:avLst/>
          </a:prstGeom>
        </p:spPr>
      </p:pic>
    </p:spTree>
    <p:extLst>
      <p:ext uri="{BB962C8B-B14F-4D97-AF65-F5344CB8AC3E}">
        <p14:creationId xmlns:p14="http://schemas.microsoft.com/office/powerpoint/2010/main" val="1551438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509953" y="4448908"/>
            <a:ext cx="11227777" cy="2272567"/>
          </a:xfrm>
        </p:spPr>
        <p:txBody>
          <a:bodyPr/>
          <a:lstStyle/>
          <a:p>
            <a:pPr algn="just"/>
            <a:r>
              <a:rPr lang="en-US" sz="1600" dirty="0">
                <a:solidFill>
                  <a:schemeClr val="tx1">
                    <a:lumMod val="95000"/>
                    <a:lumOff val="5000"/>
                  </a:schemeClr>
                </a:solidFill>
              </a:rPr>
              <a:t>The project compared four deep learning models — DNN, CNN, LSTM, and </a:t>
            </a:r>
            <a:r>
              <a:rPr lang="en-US" sz="1600" dirty="0" err="1">
                <a:solidFill>
                  <a:schemeClr val="tx1">
                    <a:lumMod val="95000"/>
                    <a:lumOff val="5000"/>
                  </a:schemeClr>
                </a:solidFill>
              </a:rPr>
              <a:t>BiLSTM</a:t>
            </a:r>
            <a:r>
              <a:rPr lang="en-US" sz="1600" dirty="0">
                <a:solidFill>
                  <a:schemeClr val="tx1">
                    <a:lumMod val="95000"/>
                    <a:lumOff val="5000"/>
                  </a:schemeClr>
                </a:solidFill>
              </a:rPr>
              <a:t> — for train delay prediction using operational and environmental data</a:t>
            </a:r>
            <a:r>
              <a:rPr lang="en-US" sz="1600" dirty="0" smtClean="0">
                <a:solidFill>
                  <a:schemeClr val="tx1">
                    <a:lumMod val="95000"/>
                    <a:lumOff val="5000"/>
                  </a:schemeClr>
                </a:solidFill>
              </a:rPr>
              <a:t>.</a:t>
            </a:r>
            <a:r>
              <a:rPr lang="en-US" sz="1600" dirty="0">
                <a:solidFill>
                  <a:schemeClr val="tx1">
                    <a:lumMod val="95000"/>
                    <a:lumOff val="5000"/>
                  </a:schemeClr>
                </a:solidFill>
              </a:rPr>
              <a:t> Feature Importance Analysis showed that </a:t>
            </a:r>
            <a:r>
              <a:rPr lang="en-US" sz="1600" i="1" dirty="0">
                <a:solidFill>
                  <a:schemeClr val="tx1">
                    <a:lumMod val="95000"/>
                    <a:lumOff val="5000"/>
                  </a:schemeClr>
                </a:solidFill>
              </a:rPr>
              <a:t>Distance Between Stations</a:t>
            </a:r>
            <a:r>
              <a:rPr lang="en-US" sz="1600" dirty="0">
                <a:solidFill>
                  <a:schemeClr val="tx1">
                    <a:lumMod val="95000"/>
                    <a:lumOff val="5000"/>
                  </a:schemeClr>
                </a:solidFill>
              </a:rPr>
              <a:t>, </a:t>
            </a:r>
            <a:r>
              <a:rPr lang="en-US" sz="1600" i="1" dirty="0">
                <a:solidFill>
                  <a:schemeClr val="tx1">
                    <a:lumMod val="95000"/>
                    <a:lumOff val="5000"/>
                  </a:schemeClr>
                </a:solidFill>
              </a:rPr>
              <a:t>Weather Conditions</a:t>
            </a:r>
            <a:r>
              <a:rPr lang="en-US" sz="1600" dirty="0">
                <a:solidFill>
                  <a:schemeClr val="tx1">
                    <a:lumMod val="95000"/>
                    <a:lumOff val="5000"/>
                  </a:schemeClr>
                </a:solidFill>
              </a:rPr>
              <a:t>, and </a:t>
            </a:r>
            <a:r>
              <a:rPr lang="en-US" sz="1600" i="1" dirty="0">
                <a:solidFill>
                  <a:schemeClr val="tx1">
                    <a:lumMod val="95000"/>
                    <a:lumOff val="5000"/>
                  </a:schemeClr>
                </a:solidFill>
              </a:rPr>
              <a:t>Day of the Week</a:t>
            </a:r>
            <a:r>
              <a:rPr lang="en-US" sz="1600" dirty="0">
                <a:solidFill>
                  <a:schemeClr val="tx1">
                    <a:lumMod val="95000"/>
                    <a:lumOff val="5000"/>
                  </a:schemeClr>
                </a:solidFill>
              </a:rPr>
              <a:t> were the most influential factors affecting train delays. All models performed well, </a:t>
            </a:r>
            <a:r>
              <a:rPr lang="en-US" sz="1600" dirty="0" smtClean="0">
                <a:solidFill>
                  <a:schemeClr val="tx1">
                    <a:lumMod val="95000"/>
                    <a:lumOff val="5000"/>
                  </a:schemeClr>
                </a:solidFill>
              </a:rPr>
              <a:t>but </a:t>
            </a:r>
            <a:r>
              <a:rPr lang="en-US" sz="1600" dirty="0" err="1" smtClean="0">
                <a:solidFill>
                  <a:schemeClr val="tx1">
                    <a:lumMod val="95000"/>
                    <a:lumOff val="5000"/>
                  </a:schemeClr>
                </a:solidFill>
              </a:rPr>
              <a:t>BiLSTM</a:t>
            </a:r>
            <a:r>
              <a:rPr lang="en-US" sz="1600" dirty="0" smtClean="0">
                <a:solidFill>
                  <a:schemeClr val="tx1">
                    <a:lumMod val="95000"/>
                    <a:lumOff val="5000"/>
                  </a:schemeClr>
                </a:solidFill>
              </a:rPr>
              <a:t> </a:t>
            </a:r>
            <a:r>
              <a:rPr lang="en-US" sz="1600" dirty="0">
                <a:solidFill>
                  <a:schemeClr val="tx1">
                    <a:lumMod val="95000"/>
                    <a:lumOff val="5000"/>
                  </a:schemeClr>
                </a:solidFill>
              </a:rPr>
              <a:t>achieved the best results across all evaluation </a:t>
            </a:r>
            <a:r>
              <a:rPr lang="en-US" sz="1600" dirty="0" smtClean="0">
                <a:solidFill>
                  <a:schemeClr val="tx1">
                    <a:lumMod val="95000"/>
                    <a:lumOff val="5000"/>
                  </a:schemeClr>
                </a:solidFill>
              </a:rPr>
              <a:t>metrics:R² </a:t>
            </a:r>
            <a:r>
              <a:rPr lang="en-US" sz="1600" dirty="0">
                <a:solidFill>
                  <a:schemeClr val="tx1">
                    <a:lumMod val="95000"/>
                    <a:lumOff val="5000"/>
                  </a:schemeClr>
                </a:solidFill>
              </a:rPr>
              <a:t>= 96.17% (highest prediction </a:t>
            </a:r>
            <a:r>
              <a:rPr lang="en-US" sz="1600" dirty="0" smtClean="0">
                <a:solidFill>
                  <a:schemeClr val="tx1">
                    <a:lumMod val="95000"/>
                    <a:lumOff val="5000"/>
                  </a:schemeClr>
                </a:solidFill>
              </a:rPr>
              <a:t>accuracy),MAE </a:t>
            </a:r>
            <a:r>
              <a:rPr lang="en-US" sz="1600" dirty="0">
                <a:solidFill>
                  <a:schemeClr val="tx1">
                    <a:lumMod val="95000"/>
                    <a:lumOff val="5000"/>
                  </a:schemeClr>
                </a:solidFill>
              </a:rPr>
              <a:t>= 28.42, RMSE = 40.8, and </a:t>
            </a:r>
            <a:r>
              <a:rPr lang="en-US" sz="1600" dirty="0" err="1">
                <a:solidFill>
                  <a:schemeClr val="tx1">
                    <a:lumMod val="95000"/>
                    <a:lumOff val="5000"/>
                  </a:schemeClr>
                </a:solidFill>
              </a:rPr>
              <a:t>sMAPE</a:t>
            </a:r>
            <a:r>
              <a:rPr lang="en-US" sz="1600" dirty="0">
                <a:solidFill>
                  <a:schemeClr val="tx1">
                    <a:lumMod val="95000"/>
                    <a:lumOff val="5000"/>
                  </a:schemeClr>
                </a:solidFill>
              </a:rPr>
              <a:t> = 69.17% (lowest errors). he LSTM model ranked second, showing strong sequential learning capability, while CNN and DNN achieved moderate performance. The comparison chart confirms </a:t>
            </a:r>
            <a:r>
              <a:rPr lang="en-US" sz="1600" dirty="0" err="1">
                <a:solidFill>
                  <a:schemeClr val="tx1">
                    <a:lumMod val="95000"/>
                    <a:lumOff val="5000"/>
                  </a:schemeClr>
                </a:solidFill>
              </a:rPr>
              <a:t>BiLSTM’s</a:t>
            </a:r>
            <a:r>
              <a:rPr lang="en-US" sz="1600" dirty="0">
                <a:solidFill>
                  <a:schemeClr val="tx1">
                    <a:lumMod val="95000"/>
                    <a:lumOff val="5000"/>
                  </a:schemeClr>
                </a:solidFill>
              </a:rPr>
              <a:t> superior ability to learn both past and future temporal patterns in sequential railway data. The True vs Predicted Delay graph shows that </a:t>
            </a:r>
            <a:r>
              <a:rPr lang="en-US" sz="1600" dirty="0" err="1">
                <a:solidFill>
                  <a:schemeClr val="tx1">
                    <a:lumMod val="95000"/>
                    <a:lumOff val="5000"/>
                  </a:schemeClr>
                </a:solidFill>
              </a:rPr>
              <a:t>BiLSTM</a:t>
            </a:r>
            <a:r>
              <a:rPr lang="en-US" sz="1600" dirty="0">
                <a:solidFill>
                  <a:schemeClr val="tx1">
                    <a:lumMod val="95000"/>
                    <a:lumOff val="5000"/>
                  </a:schemeClr>
                </a:solidFill>
              </a:rPr>
              <a:t> predictions closely follow actual delay trends, proving its high accuracy and reliability. Although </a:t>
            </a:r>
            <a:r>
              <a:rPr lang="en-US" sz="1600" dirty="0" err="1">
                <a:solidFill>
                  <a:schemeClr val="tx1">
                    <a:lumMod val="95000"/>
                    <a:lumOff val="5000"/>
                  </a:schemeClr>
                </a:solidFill>
              </a:rPr>
              <a:t>BiLSTM</a:t>
            </a:r>
            <a:r>
              <a:rPr lang="en-US" sz="1600" dirty="0">
                <a:solidFill>
                  <a:schemeClr val="tx1">
                    <a:lumMod val="95000"/>
                    <a:lumOff val="5000"/>
                  </a:schemeClr>
                </a:solidFill>
              </a:rPr>
              <a:t> required the highest CPU time (316.24s), its accuracy makes it ideal for real-time railway forecasting applications.</a:t>
            </a:r>
          </a:p>
          <a:p>
            <a:endParaRPr lang="en-US" sz="1600" dirty="0">
              <a:solidFill>
                <a:schemeClr val="tx1">
                  <a:lumMod val="95000"/>
                  <a:lumOff val="5000"/>
                </a:schemeClr>
              </a:solidFill>
            </a:endParaRPr>
          </a:p>
          <a:p>
            <a:endParaRPr lang="en-US" sz="1600" dirty="0">
              <a:solidFill>
                <a:schemeClr val="tx1">
                  <a:lumMod val="95000"/>
                  <a:lumOff val="5000"/>
                </a:schemeClr>
              </a:solidFill>
            </a:endParaRPr>
          </a:p>
        </p:txBody>
      </p:sp>
      <p:pic>
        <p:nvPicPr>
          <p:cNvPr id="5" name="Content Placeholder 4"/>
          <p:cNvPicPr>
            <a:picLocks noGrp="1" noChangeAspect="1"/>
          </p:cNvPicPr>
          <p:nvPr>
            <p:ph idx="1"/>
          </p:nvPr>
        </p:nvPicPr>
        <p:blipFill>
          <a:blip r:embed="rId2"/>
          <a:stretch>
            <a:fillRect/>
          </a:stretch>
        </p:blipFill>
        <p:spPr>
          <a:xfrm>
            <a:off x="334108" y="1055078"/>
            <a:ext cx="5767754" cy="3138854"/>
          </a:xfrm>
          <a:prstGeom prst="rect">
            <a:avLst/>
          </a:prstGeom>
        </p:spPr>
      </p:pic>
      <p:grpSp>
        <p:nvGrpSpPr>
          <p:cNvPr id="6" name="Group 5"/>
          <p:cNvGrpSpPr/>
          <p:nvPr/>
        </p:nvGrpSpPr>
        <p:grpSpPr>
          <a:xfrm>
            <a:off x="0" y="-91440"/>
            <a:ext cx="12192000" cy="1058594"/>
            <a:chOff x="0" y="0"/>
            <a:chExt cx="24384000" cy="3156966"/>
          </a:xfrm>
        </p:grpSpPr>
        <p:sp>
          <p:nvSpPr>
            <p:cNvPr id="7" name="Freeform 6"/>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3"/>
              <a:stretch>
                <a:fillRect t="-5232" b="-5232"/>
              </a:stretch>
            </a:blipFill>
          </p:spPr>
          <p:txBody>
            <a:bodyPr/>
            <a:lstStyle/>
            <a:p>
              <a:endParaRPr lang="en-IN"/>
            </a:p>
          </p:txBody>
        </p:sp>
      </p:grpSp>
      <p:pic>
        <p:nvPicPr>
          <p:cNvPr id="8" name="Picture 7"/>
          <p:cNvPicPr>
            <a:picLocks noChangeAspect="1"/>
          </p:cNvPicPr>
          <p:nvPr/>
        </p:nvPicPr>
        <p:blipFill>
          <a:blip r:embed="rId4"/>
          <a:stretch>
            <a:fillRect/>
          </a:stretch>
        </p:blipFill>
        <p:spPr>
          <a:xfrm>
            <a:off x="6207370" y="1055078"/>
            <a:ext cx="5530361" cy="3226778"/>
          </a:xfrm>
          <a:prstGeom prst="rect">
            <a:avLst/>
          </a:prstGeom>
        </p:spPr>
      </p:pic>
    </p:spTree>
    <p:extLst>
      <p:ext uri="{BB962C8B-B14F-4D97-AF65-F5344CB8AC3E}">
        <p14:creationId xmlns:p14="http://schemas.microsoft.com/office/powerpoint/2010/main" val="1654239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
            </a:r>
            <a:br>
              <a:rPr lang="en-US" sz="4000" b="1" dirty="0" smtClean="0"/>
            </a:br>
            <a:r>
              <a:rPr lang="en-US" sz="4000" b="1" dirty="0" smtClean="0"/>
              <a:t>Conclusion</a:t>
            </a:r>
            <a:endParaRPr lang="en-IN" sz="4000" b="1" dirty="0"/>
          </a:p>
        </p:txBody>
      </p:sp>
      <p:sp>
        <p:nvSpPr>
          <p:cNvPr id="3" name="Content Placeholder 2"/>
          <p:cNvSpPr>
            <a:spLocks noGrp="1"/>
          </p:cNvSpPr>
          <p:nvPr>
            <p:ph idx="1"/>
          </p:nvPr>
        </p:nvSpPr>
        <p:spPr/>
        <p:txBody>
          <a:bodyPr>
            <a:noAutofit/>
          </a:bodyPr>
          <a:lstStyle/>
          <a:p>
            <a:pPr marL="0" indent="0">
              <a:buNone/>
            </a:pPr>
            <a:r>
              <a:rPr lang="en-US" sz="2400" dirty="0"/>
              <a:t>The project successfully demonstrates that deep learning models, particularly the Bidirectional LSTM (</a:t>
            </a:r>
            <a:r>
              <a:rPr lang="en-US" sz="2400" dirty="0" err="1"/>
              <a:t>BiLSTM</a:t>
            </a:r>
            <a:r>
              <a:rPr lang="en-US" sz="2400" dirty="0"/>
              <a:t>), are highly effective for predicting train delays using operational and environmental data. By comparing DNN, CNN, LSTM, and </a:t>
            </a:r>
            <a:r>
              <a:rPr lang="en-US" sz="2400" dirty="0" err="1"/>
              <a:t>BiLSTM</a:t>
            </a:r>
            <a:r>
              <a:rPr lang="en-US" sz="2400" dirty="0"/>
              <a:t> models, it was found that </a:t>
            </a:r>
            <a:r>
              <a:rPr lang="en-US" sz="2400" dirty="0" err="1"/>
              <a:t>BiLSTM</a:t>
            </a:r>
            <a:r>
              <a:rPr lang="en-US" sz="2400" dirty="0"/>
              <a:t> achieved the highest accuracy (R² = 96.17%) and lowest error values, proving its strength in learning temporal dependencies from both past and future contexts. This approach enhances real-time forecasting, enabling better train scheduling, reduced congestion, and improved passenger satisfaction. The study also emphasizes that incorporating factors such as weather, route congestion, and historical delays significantly improves model reliability. Furthermore, the developed framework is modular and can be integrated with real-time railway systems for dynamic delay monitoring. Overall, this work highlights the potential of deep learning in creating intelligent, adaptive, and sustainable railway management systems for future smart transportation.</a:t>
            </a:r>
            <a:endParaRPr lang="en-IN" sz="2400" dirty="0"/>
          </a:p>
        </p:txBody>
      </p:sp>
      <p:grpSp>
        <p:nvGrpSpPr>
          <p:cNvPr id="5" name="Group 4"/>
          <p:cNvGrpSpPr/>
          <p:nvPr/>
        </p:nvGrpSpPr>
        <p:grpSpPr>
          <a:xfrm>
            <a:off x="0" y="-91440"/>
            <a:ext cx="12192000" cy="1058594"/>
            <a:chOff x="0" y="0"/>
            <a:chExt cx="24384000" cy="3156966"/>
          </a:xfrm>
        </p:grpSpPr>
        <p:sp>
          <p:nvSpPr>
            <p:cNvPr id="6" name="Freeform 5"/>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2"/>
              <a:stretch>
                <a:fillRect t="-5232" b="-5232"/>
              </a:stretch>
            </a:blipFill>
          </p:spPr>
          <p:txBody>
            <a:bodyPr/>
            <a:lstStyle/>
            <a:p>
              <a:endParaRPr lang="en-IN"/>
            </a:p>
          </p:txBody>
        </p:sp>
      </p:grpSp>
    </p:spTree>
    <p:extLst>
      <p:ext uri="{BB962C8B-B14F-4D97-AF65-F5344CB8AC3E}">
        <p14:creationId xmlns:p14="http://schemas.microsoft.com/office/powerpoint/2010/main" val="1147750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r>
            <a:br>
              <a:rPr lang="en-US" b="1" dirty="0" smtClean="0"/>
            </a:br>
            <a:r>
              <a:rPr lang="en-US" b="1" dirty="0" smtClean="0"/>
              <a:t>References</a:t>
            </a:r>
            <a:endParaRPr lang="en-IN" b="1" dirty="0"/>
          </a:p>
        </p:txBody>
      </p:sp>
      <p:sp>
        <p:nvSpPr>
          <p:cNvPr id="3" name="Content Placeholder 2"/>
          <p:cNvSpPr>
            <a:spLocks noGrp="1"/>
          </p:cNvSpPr>
          <p:nvPr>
            <p:ph idx="1"/>
          </p:nvPr>
        </p:nvSpPr>
        <p:spPr>
          <a:xfrm>
            <a:off x="448409" y="1776046"/>
            <a:ext cx="11324492" cy="4774223"/>
          </a:xfrm>
        </p:spPr>
        <p:txBody>
          <a:bodyPr>
            <a:normAutofit fontScale="55000" lnSpcReduction="20000"/>
          </a:bodyPr>
          <a:lstStyle/>
          <a:p>
            <a:pPr marL="0" indent="0" algn="just">
              <a:buNone/>
            </a:pPr>
            <a:r>
              <a:rPr lang="en-US" dirty="0">
                <a:latin typeface="Times New Roman" panose="02020603050405020304" pitchFamily="18" charset="0"/>
                <a:cs typeface="Times New Roman" panose="02020603050405020304" pitchFamily="18" charset="0"/>
              </a:rPr>
              <a:t>[1] </a:t>
            </a:r>
            <a:r>
              <a:rPr lang="en-US" dirty="0"/>
              <a:t>K. </a:t>
            </a:r>
            <a:r>
              <a:rPr lang="en-US" dirty="0" err="1"/>
              <a:t>Rautela</a:t>
            </a:r>
            <a:r>
              <a:rPr lang="en-US" dirty="0"/>
              <a:t>, M. C. Trivedi, and P. P. Roy, "A </a:t>
            </a:r>
            <a:r>
              <a:rPr lang="en-US" dirty="0" err="1"/>
              <a:t>BiLSTM</a:t>
            </a:r>
            <a:r>
              <a:rPr lang="en-US" dirty="0"/>
              <a:t> based deep learning model for predicting train delays," in Proc. Int. Joint Conf.</a:t>
            </a:r>
          </a:p>
          <a:p>
            <a:pPr marL="0" indent="0" algn="just">
              <a:buNone/>
            </a:pPr>
            <a:r>
              <a:rPr lang="en-IN" dirty="0"/>
              <a:t>Neural </a:t>
            </a:r>
            <a:r>
              <a:rPr lang="en-IN" dirty="0" err="1"/>
              <a:t>Netw</a:t>
            </a:r>
            <a:r>
              <a:rPr lang="en-IN" dirty="0"/>
              <a:t>. (IJCNN)*, Glasgow, UK, Jul. 2020, pp. 1-7.</a:t>
            </a:r>
          </a:p>
          <a:p>
            <a:pPr marL="0" indent="0" algn="just">
              <a:buNone/>
            </a:pPr>
            <a:r>
              <a:rPr lang="en-US" dirty="0"/>
              <a:t>[2] L. Ge, M. </a:t>
            </a:r>
            <a:r>
              <a:rPr lang="en-US" dirty="0" err="1"/>
              <a:t>Sarhani</a:t>
            </a:r>
            <a:r>
              <a:rPr lang="en-US" dirty="0"/>
              <a:t>, S. </a:t>
            </a:r>
            <a:r>
              <a:rPr lang="en-US" dirty="0" err="1"/>
              <a:t>Vos</a:t>
            </a:r>
            <a:r>
              <a:rPr lang="en-US" dirty="0"/>
              <a:t>, and L. </a:t>
            </a:r>
            <a:r>
              <a:rPr lang="en-US" dirty="0" err="1"/>
              <a:t>Xie</a:t>
            </a:r>
            <a:r>
              <a:rPr lang="en-US" dirty="0"/>
              <a:t>, "Review of transit data </a:t>
            </a:r>
            <a:r>
              <a:rPr lang="en-US" dirty="0" err="1"/>
              <a:t>sources:Potentials</a:t>
            </a:r>
            <a:r>
              <a:rPr lang="en-US" dirty="0"/>
              <a:t>, challenges and complementarity," Sustainability, vol. 13,</a:t>
            </a:r>
            <a:r>
              <a:rPr lang="en-IN" dirty="0"/>
              <a:t>no. 20, p. 11450, 2021.</a:t>
            </a:r>
          </a:p>
          <a:p>
            <a:pPr marL="0" indent="0" algn="just">
              <a:buNone/>
            </a:pPr>
            <a:r>
              <a:rPr lang="en-US" dirty="0"/>
              <a:t>[3] Z. Li, C. Wen, R. Hu, C. Xu, P. Huang, and X. Jiang, "Near-term train delay prediction in the Dutch railways network," Int. J. Rail </a:t>
            </a:r>
            <a:r>
              <a:rPr lang="en-IN" dirty="0"/>
              <a:t>Transportation, vol. 9, no. 6, pp. 520-539, 2020.</a:t>
            </a:r>
          </a:p>
          <a:p>
            <a:pPr marL="0" indent="0" algn="just">
              <a:buNone/>
            </a:pPr>
            <a:r>
              <a:rPr lang="en-IN" dirty="0"/>
              <a:t>[4] N. </a:t>
            </a:r>
            <a:r>
              <a:rPr lang="en-IN" dirty="0" err="1"/>
              <a:t>Markovic</a:t>
            </a:r>
            <a:r>
              <a:rPr lang="en-IN" dirty="0"/>
              <a:t>, S. Milinkovic, K. S. Tikhonov, and P. </a:t>
            </a:r>
            <a:r>
              <a:rPr lang="en-IN" dirty="0" err="1"/>
              <a:t>Schonfeld</a:t>
            </a:r>
            <a:r>
              <a:rPr lang="en-IN" dirty="0"/>
              <a:t>, "</a:t>
            </a:r>
            <a:r>
              <a:rPr lang="en-IN" dirty="0" err="1"/>
              <a:t>Examiningpassenger</a:t>
            </a:r>
            <a:r>
              <a:rPr lang="en-IN" dirty="0"/>
              <a:t> train arrival delays with support vector regression,"</a:t>
            </a:r>
            <a:r>
              <a:rPr lang="en-US" dirty="0"/>
              <a:t>Transportation Research Part C*, vol. 56, pp. 251-262, 2015.</a:t>
            </a:r>
          </a:p>
          <a:p>
            <a:pPr marL="0" indent="0" algn="just">
              <a:buNone/>
            </a:pPr>
            <a:r>
              <a:rPr lang="en-US" dirty="0"/>
              <a:t>[5] M. </a:t>
            </a:r>
            <a:r>
              <a:rPr lang="en-US" dirty="0" err="1"/>
              <a:t>Sarhani</a:t>
            </a:r>
            <a:r>
              <a:rPr lang="en-US" dirty="0"/>
              <a:t> and S. </a:t>
            </a:r>
            <a:r>
              <a:rPr lang="en-US" dirty="0" err="1"/>
              <a:t>Vos</a:t>
            </a:r>
            <a:r>
              <a:rPr lang="en-US" dirty="0"/>
              <a:t>, "On the effectiveness of SVM-based feature selection for transit delay prediction," 2021.</a:t>
            </a:r>
          </a:p>
          <a:p>
            <a:pPr marL="0" indent="0" algn="just">
              <a:buNone/>
            </a:pPr>
            <a:r>
              <a:rPr lang="en-US" dirty="0">
                <a:latin typeface="Times New Roman" panose="02020603050405020304" pitchFamily="18" charset="0"/>
                <a:cs typeface="Times New Roman" panose="02020603050405020304" pitchFamily="18" charset="0"/>
              </a:rPr>
              <a:t>[6] </a:t>
            </a:r>
            <a:r>
              <a:rPr lang="en-US" dirty="0"/>
              <a:t>J. Wessel, J. Allen, and K. Watkins, "Integrating real-time data into GTFS, a public transit data standard," *Transportation Research </a:t>
            </a:r>
            <a:r>
              <a:rPr lang="en-IN" dirty="0"/>
              <a:t>Record, vol. 2650, no. 1, pp. 110-118, 2017.</a:t>
            </a:r>
          </a:p>
          <a:p>
            <a:pPr marL="0" indent="0" algn="just">
              <a:buNone/>
            </a:pPr>
            <a:r>
              <a:rPr lang="en-US" dirty="0">
                <a:latin typeface="Times New Roman" panose="02020603050405020304" pitchFamily="18" charset="0"/>
                <a:cs typeface="Times New Roman" panose="02020603050405020304" pitchFamily="18" charset="0"/>
              </a:rPr>
              <a:t>[7]</a:t>
            </a:r>
            <a:r>
              <a:rPr lang="en-IN" dirty="0"/>
              <a:t> P. Huang, C. Wen, L. Fu, et al, "</a:t>
            </a:r>
            <a:r>
              <a:rPr lang="en-IN" dirty="0" err="1"/>
              <a:t>Modeling</a:t>
            </a:r>
            <a:r>
              <a:rPr lang="en-IN" dirty="0"/>
              <a:t> train operation as sequences:</a:t>
            </a:r>
            <a:r>
              <a:rPr lang="en-US" dirty="0"/>
              <a:t>A study of delay prediction with operation and weather data," *Transportation Research Part E*, vol. 141, p. 102022, 2020.</a:t>
            </a:r>
          </a:p>
          <a:p>
            <a:pPr marL="0" indent="0" algn="just">
              <a:buNone/>
            </a:pPr>
            <a:r>
              <a:rPr lang="en-US" dirty="0">
                <a:latin typeface="Times New Roman" panose="02020603050405020304" pitchFamily="18" charset="0"/>
                <a:cs typeface="Times New Roman" panose="02020603050405020304" pitchFamily="18" charset="0"/>
              </a:rPr>
              <a:t>[8]</a:t>
            </a:r>
            <a:r>
              <a:rPr lang="en-US" dirty="0"/>
              <a:t> M. </a:t>
            </a:r>
            <a:r>
              <a:rPr lang="en-US" dirty="0" err="1"/>
              <a:t>Shoman</a:t>
            </a:r>
            <a:r>
              <a:rPr lang="en-US" dirty="0"/>
              <a:t>, T. Laverty, and C. </a:t>
            </a:r>
            <a:r>
              <a:rPr lang="en-US" dirty="0" err="1"/>
              <a:t>Andris</a:t>
            </a:r>
            <a:r>
              <a:rPr lang="en-US" dirty="0"/>
              <a:t>, "Transit delay prediction using entity </a:t>
            </a:r>
            <a:r>
              <a:rPr lang="en-US" dirty="0" err="1"/>
              <a:t>embeddings</a:t>
            </a:r>
            <a:r>
              <a:rPr lang="en-US" dirty="0"/>
              <a:t> on heterogeneous data," *IEEE Trans. </a:t>
            </a:r>
            <a:r>
              <a:rPr lang="en-US" dirty="0" err="1"/>
              <a:t>Intell</a:t>
            </a:r>
            <a:r>
              <a:rPr lang="en-US" dirty="0"/>
              <a:t>. </a:t>
            </a:r>
            <a:r>
              <a:rPr lang="en-US" dirty="0" smtClean="0"/>
              <a:t>Transp.</a:t>
            </a:r>
            <a:r>
              <a:rPr lang="nn-NO" dirty="0" smtClean="0"/>
              <a:t>Syst</a:t>
            </a:r>
            <a:r>
              <a:rPr lang="nn-NO" dirty="0"/>
              <a:t>.*, vol. 22, no. 7, pp. 4151-4161, 2020</a:t>
            </a:r>
            <a:r>
              <a:rPr lang="nn-NO" dirty="0" smtClean="0"/>
              <a:t>.</a:t>
            </a:r>
          </a:p>
          <a:p>
            <a:pPr marL="0" indent="0">
              <a:buNone/>
            </a:pPr>
            <a:r>
              <a:rPr lang="en-US" dirty="0" smtClean="0"/>
              <a:t>[</a:t>
            </a:r>
            <a:r>
              <a:rPr lang="en-US" dirty="0"/>
              <a:t>9</a:t>
            </a:r>
            <a:r>
              <a:rPr lang="en-US" dirty="0" smtClean="0"/>
              <a:t>] </a:t>
            </a:r>
            <a:r>
              <a:rPr lang="en-US" dirty="0"/>
              <a:t>C. Wen, P. Huang, and L. Fu, "Predicting transit delays using graph attention networks," *Transportation Research Part C*, vol. 149, p.</a:t>
            </a:r>
            <a:r>
              <a:rPr lang="en-IN" dirty="0"/>
              <a:t>103935, 2023.</a:t>
            </a:r>
          </a:p>
          <a:p>
            <a:pPr marL="0" indent="0">
              <a:buNone/>
            </a:pPr>
            <a:r>
              <a:rPr lang="en-US" dirty="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10] </a:t>
            </a:r>
            <a:r>
              <a:rPr lang="en-US" dirty="0"/>
              <a:t>X. Wang, L. Chen, and Y. Zhao, "Comparative study of machine learning models for metro delay forecasting," *Expert Syst. Appl.*, vol. 216, p.</a:t>
            </a:r>
            <a:r>
              <a:rPr lang="en-IN" dirty="0"/>
              <a:t>119419, 2023.</a:t>
            </a:r>
          </a:p>
          <a:p>
            <a:pPr marL="0" indent="0" algn="just">
              <a:buNone/>
            </a:pPr>
            <a:endParaRPr lang="nn-NO" dirty="0" smtClean="0"/>
          </a:p>
          <a:p>
            <a:pPr marL="0" indent="0" algn="just">
              <a:buNone/>
            </a:pPr>
            <a:endParaRPr lang="en-US" dirty="0">
              <a:latin typeface="Times New Roman" panose="02020603050405020304" pitchFamily="18" charset="0"/>
              <a:cs typeface="Times New Roman" panose="02020603050405020304" pitchFamily="18" charset="0"/>
            </a:endParaRPr>
          </a:p>
        </p:txBody>
      </p:sp>
      <p:grpSp>
        <p:nvGrpSpPr>
          <p:cNvPr id="5" name="Group 4"/>
          <p:cNvGrpSpPr/>
          <p:nvPr/>
        </p:nvGrpSpPr>
        <p:grpSpPr>
          <a:xfrm>
            <a:off x="0" y="-91440"/>
            <a:ext cx="12192000" cy="1058594"/>
            <a:chOff x="0" y="0"/>
            <a:chExt cx="24384000" cy="3156966"/>
          </a:xfrm>
        </p:grpSpPr>
        <p:sp>
          <p:nvSpPr>
            <p:cNvPr id="6" name="Freeform 5"/>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2"/>
              <a:stretch>
                <a:fillRect t="-5232" b="-5232"/>
              </a:stretch>
            </a:blipFill>
          </p:spPr>
          <p:txBody>
            <a:bodyPr/>
            <a:lstStyle/>
            <a:p>
              <a:endParaRPr lang="en-IN"/>
            </a:p>
          </p:txBody>
        </p:sp>
      </p:grpSp>
    </p:spTree>
    <p:extLst>
      <p:ext uri="{BB962C8B-B14F-4D97-AF65-F5344CB8AC3E}">
        <p14:creationId xmlns:p14="http://schemas.microsoft.com/office/powerpoint/2010/main" val="1997905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	</a:t>
            </a:r>
            <a:r>
              <a:rPr lang="en-US" dirty="0" smtClean="0"/>
              <a:t>				</a:t>
            </a:r>
          </a:p>
          <a:p>
            <a:pPr marL="0" indent="0" algn="just">
              <a:buNone/>
            </a:pPr>
            <a:r>
              <a:rPr lang="en-US" sz="7200" dirty="0" smtClean="0"/>
              <a:t>			</a:t>
            </a:r>
            <a:r>
              <a:rPr lang="en-US" sz="7200" dirty="0" smtClean="0">
                <a:latin typeface="Algerian" panose="04020705040A02060702" pitchFamily="82" charset="0"/>
              </a:rPr>
              <a:t>  Thank You</a:t>
            </a:r>
            <a:endParaRPr lang="en-IN" sz="7200" dirty="0">
              <a:latin typeface="Algerian" panose="04020705040A02060702" pitchFamily="82" charset="0"/>
            </a:endParaRPr>
          </a:p>
        </p:txBody>
      </p:sp>
      <p:grpSp>
        <p:nvGrpSpPr>
          <p:cNvPr id="5" name="Group 4"/>
          <p:cNvGrpSpPr/>
          <p:nvPr/>
        </p:nvGrpSpPr>
        <p:grpSpPr>
          <a:xfrm>
            <a:off x="0" y="-91440"/>
            <a:ext cx="12192000" cy="1058594"/>
            <a:chOff x="0" y="0"/>
            <a:chExt cx="24384000" cy="3156966"/>
          </a:xfrm>
        </p:grpSpPr>
        <p:sp>
          <p:nvSpPr>
            <p:cNvPr id="6" name="Freeform 5"/>
            <p:cNvSpPr/>
            <p:nvPr/>
          </p:nvSpPr>
          <p:spPr>
            <a:xfrm>
              <a:off x="0" y="0"/>
              <a:ext cx="24384000" cy="3156966"/>
            </a:xfrm>
            <a:custGeom>
              <a:avLst/>
              <a:gdLst/>
              <a:ahLst/>
              <a:cxnLst/>
              <a:rect l="l" t="t" r="r" b="b"/>
              <a:pathLst>
                <a:path w="24384000" h="3156966">
                  <a:moveTo>
                    <a:pt x="0" y="0"/>
                  </a:moveTo>
                  <a:lnTo>
                    <a:pt x="24384000" y="0"/>
                  </a:lnTo>
                  <a:lnTo>
                    <a:pt x="24384000" y="3156966"/>
                  </a:lnTo>
                  <a:lnTo>
                    <a:pt x="0" y="3156966"/>
                  </a:lnTo>
                  <a:lnTo>
                    <a:pt x="0" y="0"/>
                  </a:lnTo>
                  <a:close/>
                </a:path>
              </a:pathLst>
            </a:custGeom>
            <a:blipFill>
              <a:blip r:embed="rId2"/>
              <a:stretch>
                <a:fillRect t="-5232" b="-5232"/>
              </a:stretch>
            </a:blipFill>
          </p:spPr>
          <p:txBody>
            <a:bodyPr/>
            <a:lstStyle/>
            <a:p>
              <a:endParaRPr lang="en-IN"/>
            </a:p>
          </p:txBody>
        </p:sp>
      </p:grpSp>
    </p:spTree>
    <p:extLst>
      <p:ext uri="{BB962C8B-B14F-4D97-AF65-F5344CB8AC3E}">
        <p14:creationId xmlns:p14="http://schemas.microsoft.com/office/powerpoint/2010/main" val="2015007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511</TotalTime>
  <Words>1980</Words>
  <Application>Microsoft Office PowerPoint</Application>
  <PresentationFormat>Widescreen</PresentationFormat>
  <Paragraphs>94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Algerian</vt:lpstr>
      <vt:lpstr>Arial</vt:lpstr>
      <vt:lpstr>Bahnschrift Condensed</vt:lpstr>
      <vt:lpstr>Calibri</vt:lpstr>
      <vt:lpstr>Calibri Light</vt:lpstr>
      <vt:lpstr>Times New Roman</vt:lpstr>
      <vt:lpstr>Wingdings</vt:lpstr>
      <vt:lpstr>Office Theme</vt:lpstr>
      <vt:lpstr>2025 IEEE International Conference on Women in Computing (INCOWOCO) (14-15, November 2025)</vt:lpstr>
      <vt:lpstr>   Contents:</vt:lpstr>
      <vt:lpstr>  </vt:lpstr>
      <vt:lpstr>  Introduction</vt:lpstr>
      <vt:lpstr>  Problem Statement </vt:lpstr>
      <vt:lpstr> Objectives</vt:lpstr>
      <vt:lpstr> Block Diagram</vt:lpstr>
      <vt:lpstr> Methodology</vt:lpstr>
      <vt:lpstr>PowerPoint Presentation</vt:lpstr>
      <vt:lpstr>PowerPoint Presentation</vt:lpstr>
      <vt:lpstr> Result &amp; Discussion</vt:lpstr>
      <vt:lpstr>PowerPoint Presentation</vt:lpstr>
      <vt:lpstr> Conclusion</vt:lpstr>
      <vt:lpstr>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Lahari</dc:creator>
  <cp:lastModifiedBy>Hp</cp:lastModifiedBy>
  <cp:revision>32</cp:revision>
  <dcterms:created xsi:type="dcterms:W3CDTF">2024-11-08T04:10:11Z</dcterms:created>
  <dcterms:modified xsi:type="dcterms:W3CDTF">2026-02-12T07:12:25Z</dcterms:modified>
</cp:coreProperties>
</file>